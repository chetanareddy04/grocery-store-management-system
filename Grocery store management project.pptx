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60" r:id="rId5"/>
    <p:sldId id="261" r:id="rId6"/>
    <p:sldId id="262" r:id="rId7"/>
    <p:sldId id="263" r:id="rId8"/>
    <p:sldId id="279" r:id="rId9"/>
    <p:sldId id="264" r:id="rId10"/>
    <p:sldId id="280"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59" r:id="rId24"/>
  </p:sldIdLst>
  <p:sldSz cx="12192000" cy="6858000"/>
  <p:notesSz cx="6858000" cy="9144000"/>
  <p:embeddedFontLst>
    <p:embeddedFont>
      <p:font typeface="Arial Rounded MT Bold" panose="020F0704030504030204" pitchFamily="34" charset="0"/>
      <p:regular r:id="rId26"/>
    </p:embeddedFont>
    <p:embeddedFont>
      <p:font typeface="Lato Black" panose="020F0502020204030203" pitchFamily="34" charset="0"/>
      <p:bold r:id="rId27"/>
    </p:embeddedFont>
    <p:embeddedFont>
      <p:font typeface="Libre Baskerville" panose="02000000000000000000" pitchFamily="2"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364" autoAdjust="0"/>
  </p:normalViewPr>
  <p:slideViewPr>
    <p:cSldViewPr snapToGrid="0">
      <p:cViewPr varScale="1">
        <p:scale>
          <a:sx n="65" d="100"/>
          <a:sy n="65" d="100"/>
        </p:scale>
        <p:origin x="461" y="5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973583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16</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35745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sama-chetana-71142031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chetanareddy04"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574504" y="3626546"/>
            <a:ext cx="7246189"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2400" b="1" i="0" u="none" strike="noStrike" cap="none" dirty="0">
                <a:solidFill>
                  <a:schemeClr val="dk1"/>
                </a:solidFill>
                <a:latin typeface="Arial Rounded MT Bold" panose="020F0704030504030204" pitchFamily="34" charset="0"/>
                <a:ea typeface="Calibri"/>
                <a:cs typeface="Calibri"/>
                <a:sym typeface="Calibri"/>
              </a:rPr>
            </a:br>
            <a:r>
              <a:rPr lang="en-IN" sz="2400" b="1" dirty="0">
                <a:solidFill>
                  <a:schemeClr val="dk1"/>
                </a:solidFill>
                <a:latin typeface="Arial Rounded MT Bold" panose="020F0704030504030204" pitchFamily="34" charset="0"/>
                <a:ea typeface="Calibri"/>
                <a:cs typeface="Calibri"/>
                <a:sym typeface="Calibri"/>
              </a:rPr>
              <a:t>GROCERY STORE MANAGEMENT</a:t>
            </a:r>
            <a:endParaRPr sz="2400" b="1" i="0" u="none" strike="noStrike" cap="none" dirty="0">
              <a:solidFill>
                <a:srgbClr val="000000"/>
              </a:solidFill>
              <a:latin typeface="Arial Rounded MT Bold" panose="020F0704030504030204" pitchFamily="34" charset="0"/>
              <a:sym typeface="Arial"/>
            </a:endParaRPr>
          </a:p>
        </p:txBody>
      </p:sp>
      <p:sp>
        <p:nvSpPr>
          <p:cNvPr id="2" name="TextBox 1">
            <a:extLst>
              <a:ext uri="{FF2B5EF4-FFF2-40B4-BE49-F238E27FC236}">
                <a16:creationId xmlns:a16="http://schemas.microsoft.com/office/drawing/2014/main" id="{1296020B-539B-FEC6-2C47-2677926B894E}"/>
              </a:ext>
            </a:extLst>
          </p:cNvPr>
          <p:cNvSpPr txBox="1"/>
          <p:nvPr/>
        </p:nvSpPr>
        <p:spPr>
          <a:xfrm>
            <a:off x="7187610" y="5728832"/>
            <a:ext cx="4719220" cy="707886"/>
          </a:xfrm>
          <a:prstGeom prst="rect">
            <a:avLst/>
          </a:prstGeom>
          <a:noFill/>
        </p:spPr>
        <p:txBody>
          <a:bodyPr wrap="square" rtlCol="0">
            <a:spAutoFit/>
          </a:bodyPr>
          <a:lstStyle/>
          <a:p>
            <a:r>
              <a:rPr lang="en-IN" sz="2000" b="1" dirty="0">
                <a:solidFill>
                  <a:srgbClr val="FF0000"/>
                </a:solidFill>
                <a:latin typeface="Times New Roman" panose="02020603050405020304" pitchFamily="18" charset="0"/>
                <a:cs typeface="Times New Roman" panose="02020603050405020304" pitchFamily="18" charset="0"/>
              </a:rPr>
              <a:t>Presented by:  </a:t>
            </a:r>
            <a:r>
              <a:rPr lang="en-IN" sz="2000" b="1" dirty="0">
                <a:latin typeface="Times New Roman" panose="02020603050405020304" pitchFamily="18" charset="0"/>
                <a:cs typeface="Times New Roman" panose="02020603050405020304" pitchFamily="18" charset="0"/>
              </a:rPr>
              <a:t>SAMA CHETANA</a:t>
            </a:r>
          </a:p>
          <a:p>
            <a:r>
              <a:rPr lang="en-IN" sz="2000" b="1" dirty="0">
                <a:solidFill>
                  <a:srgbClr val="FF0000"/>
                </a:solidFill>
                <a:latin typeface="Times New Roman" panose="02020603050405020304" pitchFamily="18" charset="0"/>
                <a:cs typeface="Times New Roman" panose="02020603050405020304" pitchFamily="18" charset="0"/>
              </a:rPr>
              <a:t>Batch No.     :  </a:t>
            </a:r>
            <a:r>
              <a:rPr lang="en-IN" sz="2000" b="1" dirty="0">
                <a:latin typeface="Times New Roman" panose="02020603050405020304" pitchFamily="18" charset="0"/>
                <a:cs typeface="Times New Roman" panose="02020603050405020304" pitchFamily="18" charset="0"/>
              </a:rPr>
              <a:t>536</a:t>
            </a:r>
          </a:p>
        </p:txBody>
      </p:sp>
      <p:sp>
        <p:nvSpPr>
          <p:cNvPr id="3" name="TextBox 2">
            <a:extLst>
              <a:ext uri="{FF2B5EF4-FFF2-40B4-BE49-F238E27FC236}">
                <a16:creationId xmlns:a16="http://schemas.microsoft.com/office/drawing/2014/main" id="{BE4C758E-650A-0C57-4796-4094F05B2B31}"/>
              </a:ext>
            </a:extLst>
          </p:cNvPr>
          <p:cNvSpPr txBox="1"/>
          <p:nvPr/>
        </p:nvSpPr>
        <p:spPr>
          <a:xfrm>
            <a:off x="12989169" y="1301262"/>
            <a:ext cx="184731" cy="307777"/>
          </a:xfrm>
          <a:prstGeom prst="rect">
            <a:avLst/>
          </a:prstGeom>
          <a:noFill/>
        </p:spPr>
        <p:txBody>
          <a:bodyPr wrap="none" rtlCol="0">
            <a:spAutoFit/>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894120" y="1299172"/>
            <a:ext cx="9875480" cy="4524275"/>
          </a:xfrm>
          <a:prstGeom prst="rect">
            <a:avLst/>
          </a:prstGeom>
          <a:noFill/>
          <a:ln>
            <a:noFill/>
          </a:ln>
        </p:spPr>
        <p:txBody>
          <a:bodyPr spcFirstLastPara="1" wrap="square" lIns="91425" tIns="45700" rIns="91425" bIns="45700" anchor="t" anchorCtr="0">
            <a:spAutoFit/>
          </a:bodyPr>
          <a:lstStyle/>
          <a:p>
            <a:pPr lvl="0">
              <a:buClr>
                <a:schemeClr val="dk1"/>
              </a:buClr>
              <a:buSzPts val="2400"/>
            </a:pPr>
            <a:r>
              <a:rPr lang="en-IN" sz="2000" b="1" dirty="0">
                <a:latin typeface="Times New Roman" panose="02020603050405020304" pitchFamily="18" charset="0"/>
                <a:cs typeface="Times New Roman" panose="02020603050405020304" pitchFamily="18" charset="0"/>
              </a:rPr>
              <a:t>Background:</a:t>
            </a:r>
          </a:p>
          <a:p>
            <a:pPr lvl="0">
              <a:buClr>
                <a:schemeClr val="dk1"/>
              </a:buClr>
              <a:buSzPts val="2400"/>
            </a:pPr>
            <a:r>
              <a:rPr lang="en-IN" sz="2000" b="1" dirty="0">
                <a:latin typeface="Times New Roman" panose="02020603050405020304" pitchFamily="18" charset="0"/>
                <a:cs typeface="Times New Roman" panose="02020603050405020304" pitchFamily="18" charset="0"/>
              </a:rPr>
              <a:t>B.Tech – Artificial Intelligence &amp; Data Science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Shadan Women’s College of Engineering &amp; Technology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2021–2025</a:t>
            </a:r>
            <a:endParaRPr lang="en-US" sz="2000" b="1" dirty="0">
              <a:solidFill>
                <a:schemeClr val="dk1"/>
              </a:solidFill>
              <a:latin typeface="Times New Roman" panose="02020603050405020304" pitchFamily="18" charset="0"/>
              <a:ea typeface="Calibri"/>
              <a:cs typeface="Times New Roman" panose="02020603050405020304" pitchFamily="18" charset="0"/>
              <a:sym typeface="Calibri"/>
            </a:endParaRPr>
          </a:p>
          <a:p>
            <a:pPr lvl="0">
              <a:buClr>
                <a:schemeClr val="dk1"/>
              </a:buClr>
              <a:buSzPts val="2400"/>
            </a:pPr>
            <a:endParaRPr lang="en-IN" sz="2000" b="1" dirty="0">
              <a:solidFill>
                <a:schemeClr val="dk1"/>
              </a:solidFill>
              <a:latin typeface="Calibri"/>
              <a:ea typeface="Calibri"/>
              <a:cs typeface="Calibri"/>
              <a:sym typeface="Calibri"/>
            </a:endParaRPr>
          </a:p>
          <a:p>
            <a:r>
              <a:rPr lang="en-IN" sz="2000" b="1" dirty="0">
                <a:latin typeface="Times New Roman" panose="02020603050405020304" pitchFamily="18" charset="0"/>
                <a:cs typeface="Times New Roman" panose="02020603050405020304" pitchFamily="18" charset="0"/>
              </a:rPr>
              <a:t>Why Data Science?</a:t>
            </a:r>
          </a:p>
          <a:p>
            <a:r>
              <a:rPr lang="en-IN" sz="2000" dirty="0">
                <a:latin typeface="Times New Roman" panose="02020603050405020304" pitchFamily="18" charset="0"/>
                <a:cs typeface="Times New Roman" panose="02020603050405020304" pitchFamily="18" charset="0"/>
              </a:rPr>
              <a:t>I chose Data Science because I like understanding the ‘why’ behind things. Instead of just looking at information, I wanted to learn how to find patterns, make sense of data, and use technology to solve problems. What attracted me most was that Data Science brings together programming, analysis, AI, and problem-solving — areas I genuinely enjoy exploring.</a:t>
            </a:r>
          </a:p>
          <a:p>
            <a:pPr marR="0" lvl="0" algn="l" rtl="0">
              <a:lnSpc>
                <a:spcPct val="100000"/>
              </a:lnSpc>
              <a:spcBef>
                <a:spcPts val="0"/>
              </a:spcBef>
              <a:spcAft>
                <a:spcPts val="0"/>
              </a:spcAft>
              <a:buClr>
                <a:schemeClr val="dk1"/>
              </a:buClr>
              <a:buSzPts val="2400"/>
            </a:pPr>
            <a:endParaRPr lang="en-US" sz="2000" b="1" i="0" u="none" strike="noStrike" cap="none" dirty="0">
              <a:solidFill>
                <a:schemeClr val="dk1"/>
              </a:solidFill>
              <a:latin typeface="Calibri"/>
              <a:ea typeface="Calibri"/>
              <a:cs typeface="Calibri"/>
              <a:sym typeface="Calibri"/>
            </a:endParaRPr>
          </a:p>
          <a:p>
            <a:pPr lvl="0">
              <a:buClr>
                <a:schemeClr val="dk1"/>
              </a:buClr>
              <a:buSzPts val="2400"/>
            </a:pPr>
            <a:r>
              <a:rPr lang="en-IN" sz="2000" b="1" dirty="0">
                <a:latin typeface="Times New Roman" panose="02020603050405020304" pitchFamily="18" charset="0"/>
                <a:cs typeface="Times New Roman" panose="02020603050405020304" pitchFamily="18" charset="0"/>
              </a:rPr>
              <a:t>Professional Profiles</a:t>
            </a:r>
          </a:p>
          <a:p>
            <a:pPr fontAlgn="base"/>
            <a:r>
              <a:rPr lang="en-IN" sz="2000" b="1" dirty="0">
                <a:latin typeface="Times New Roman" panose="02020603050405020304" pitchFamily="18" charset="0"/>
                <a:cs typeface="Times New Roman" panose="02020603050405020304" pitchFamily="18" charset="0"/>
              </a:rPr>
              <a:t>LinkedIn : </a:t>
            </a:r>
            <a:r>
              <a:rPr lang="en-IN" sz="2000" b="1" u="sng" dirty="0">
                <a:hlinkClick r:id="rId3"/>
              </a:rPr>
              <a:t>linkedin.com/in/sama-chetana-71142031b</a:t>
            </a:r>
            <a:endParaRPr lang="en-IN" sz="2000" b="1" dirty="0">
              <a:latin typeface="Times New Roman" panose="02020603050405020304" pitchFamily="18" charset="0"/>
              <a:cs typeface="Times New Roman" panose="02020603050405020304" pitchFamily="18" charset="0"/>
            </a:endParaRPr>
          </a:p>
          <a:p>
            <a:pPr>
              <a:buClr>
                <a:schemeClr val="dk1"/>
              </a:buClr>
              <a:buSzPts val="2400"/>
            </a:pPr>
            <a:r>
              <a:rPr lang="en-IN" sz="2000" b="1" dirty="0">
                <a:latin typeface="Times New Roman" panose="02020603050405020304" pitchFamily="18" charset="0"/>
                <a:cs typeface="Times New Roman" panose="02020603050405020304" pitchFamily="18" charset="0"/>
              </a:rPr>
              <a:t>GitHub: </a:t>
            </a:r>
            <a:r>
              <a:rPr lang="en-IN" sz="2000" b="1" dirty="0">
                <a:latin typeface="Times New Roman" panose="02020603050405020304" pitchFamily="18" charset="0"/>
                <a:cs typeface="Times New Roman" panose="02020603050405020304" pitchFamily="18" charset="0"/>
                <a:hlinkClick r:id="rId4"/>
              </a:rPr>
              <a:t>https://github.com/chetanareddy04</a:t>
            </a:r>
            <a:r>
              <a:rPr lang="en-IN" sz="2000" b="1" dirty="0">
                <a:latin typeface="Times New Roman" panose="02020603050405020304" pitchFamily="18" charset="0"/>
                <a:cs typeface="Times New Roman" panose="02020603050405020304" pitchFamily="18" charset="0"/>
              </a:rPr>
              <a:t> </a:t>
            </a:r>
            <a:endParaRPr lang="en-IN"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Business Problem</a:t>
            </a:r>
            <a:endParaRPr sz="2400" dirty="0"/>
          </a:p>
          <a:p>
            <a:pPr marL="457200" lvl="0" indent="-431800" algn="l" rtl="0">
              <a:lnSpc>
                <a:spcPct val="90000"/>
              </a:lnSpc>
              <a:spcBef>
                <a:spcPts val="1000"/>
              </a:spcBef>
              <a:spcAft>
                <a:spcPts val="0"/>
              </a:spcAft>
              <a:buSzPts val="2400"/>
              <a:buChar char="•"/>
            </a:pPr>
            <a:r>
              <a:rPr lang="en-IN" sz="2400" b="1" dirty="0"/>
              <a:t>Problem Statement</a:t>
            </a:r>
            <a:endParaRPr sz="2400" dirty="0"/>
          </a:p>
          <a:p>
            <a:pPr marL="457200" lvl="0" indent="-431800" algn="l" rtl="0">
              <a:lnSpc>
                <a:spcPct val="90000"/>
              </a:lnSpc>
              <a:spcBef>
                <a:spcPts val="1000"/>
              </a:spcBef>
              <a:spcAft>
                <a:spcPts val="0"/>
              </a:spcAft>
              <a:buSzPts val="2400"/>
              <a:buChar char="•"/>
            </a:pPr>
            <a:r>
              <a:rPr lang="en-US" sz="2400" b="1" dirty="0"/>
              <a:t>Introduction</a:t>
            </a:r>
            <a:endParaRPr sz="2400" b="1" dirty="0"/>
          </a:p>
          <a:p>
            <a:pPr marL="457200" lvl="0" indent="-431800" algn="l" rtl="0">
              <a:lnSpc>
                <a:spcPct val="90000"/>
              </a:lnSpc>
              <a:spcBef>
                <a:spcPts val="1000"/>
              </a:spcBef>
              <a:spcAft>
                <a:spcPts val="0"/>
              </a:spcAft>
              <a:buSzPts val="2400"/>
              <a:buChar char="•"/>
            </a:pPr>
            <a:r>
              <a:rPr lang="en-IN" sz="2400" b="1" dirty="0"/>
              <a:t>Data Description </a:t>
            </a:r>
          </a:p>
          <a:p>
            <a:pPr marL="457200" lvl="0" indent="-431800" algn="l" rtl="0">
              <a:lnSpc>
                <a:spcPct val="90000"/>
              </a:lnSpc>
              <a:spcBef>
                <a:spcPts val="1000"/>
              </a:spcBef>
              <a:spcAft>
                <a:spcPts val="0"/>
              </a:spcAft>
              <a:buSzPts val="2400"/>
              <a:buChar char="•"/>
            </a:pPr>
            <a:r>
              <a:rPr lang="en-US" sz="2400" b="1" dirty="0"/>
              <a:t>Queries &amp; Outputs</a:t>
            </a:r>
            <a:endParaRPr sz="2400" b="1" dirty="0"/>
          </a:p>
          <a:p>
            <a:pPr marL="457200" lvl="0" indent="-431800" algn="l" rtl="0">
              <a:lnSpc>
                <a:spcPct val="90000"/>
              </a:lnSpc>
              <a:spcBef>
                <a:spcPts val="1000"/>
              </a:spcBef>
              <a:spcAft>
                <a:spcPts val="0"/>
              </a:spcAft>
              <a:buSzPts val="2400"/>
              <a:buChar char="•"/>
            </a:pPr>
            <a:r>
              <a:rPr lang="en-IN" sz="2400" b="1" dirty="0"/>
              <a:t>Insights</a:t>
            </a:r>
          </a:p>
          <a:p>
            <a:pPr marL="457200" lvl="0" indent="-431800" algn="l" rtl="0">
              <a:lnSpc>
                <a:spcPct val="90000"/>
              </a:lnSpc>
              <a:spcBef>
                <a:spcPts val="1000"/>
              </a:spcBef>
              <a:spcAft>
                <a:spcPts val="0"/>
              </a:spcAft>
              <a:buSzPts val="2400"/>
              <a:buChar char="•"/>
            </a:pPr>
            <a:r>
              <a:rPr lang="en-IN" sz="2400" b="1" dirty="0"/>
              <a:t>Recommendations</a:t>
            </a:r>
          </a:p>
          <a:p>
            <a:pPr marL="457200" lvl="0" indent="-431800" algn="l" rtl="0">
              <a:lnSpc>
                <a:spcPct val="90000"/>
              </a:lnSpc>
              <a:spcBef>
                <a:spcPts val="1000"/>
              </a:spcBef>
              <a:spcAft>
                <a:spcPts val="0"/>
              </a:spcAft>
              <a:buSzPts val="2400"/>
              <a:buChar char="•"/>
            </a:pPr>
            <a:r>
              <a:rPr lang="en-IN" sz="2400" b="1" dirty="0"/>
              <a:t>Conclusion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D199-AA03-4F11-B6BD-809F40AA85D5}"/>
              </a:ext>
            </a:extLst>
          </p:cNvPr>
          <p:cNvSpPr>
            <a:spLocks noGrp="1"/>
          </p:cNvSpPr>
          <p:nvPr>
            <p:ph type="title"/>
          </p:nvPr>
        </p:nvSpPr>
        <p:spPr/>
        <p:txBody>
          <a:bodyPr/>
          <a:lstStyle/>
          <a:p>
            <a:pPr marL="114300"/>
            <a:r>
              <a:rPr lang="en-IN" b="1" dirty="0">
                <a:solidFill>
                  <a:srgbClr val="FF0000"/>
                </a:solidFill>
              </a:rPr>
              <a:t>BUSINESS PROBLEM</a:t>
            </a:r>
            <a:br>
              <a:rPr lang="en-IN" b="1" dirty="0">
                <a:solidFill>
                  <a:srgbClr val="FF0000"/>
                </a:solidFill>
              </a:rPr>
            </a:br>
            <a:endParaRPr lang="en-IN" dirty="0">
              <a:solidFill>
                <a:srgbClr val="FF0000"/>
              </a:solidFill>
            </a:endParaRPr>
          </a:p>
        </p:txBody>
      </p:sp>
      <p:sp>
        <p:nvSpPr>
          <p:cNvPr id="3" name="Text Placeholder 2">
            <a:extLst>
              <a:ext uri="{FF2B5EF4-FFF2-40B4-BE49-F238E27FC236}">
                <a16:creationId xmlns:a16="http://schemas.microsoft.com/office/drawing/2014/main" id="{C36591ED-4253-09FD-48B1-70E83766E1C7}"/>
              </a:ext>
            </a:extLst>
          </p:cNvPr>
          <p:cNvSpPr>
            <a:spLocks noGrp="1"/>
          </p:cNvSpPr>
          <p:nvPr>
            <p:ph type="body" idx="1"/>
          </p:nvPr>
        </p:nvSpPr>
        <p:spPr>
          <a:xfrm>
            <a:off x="838200" y="1140998"/>
            <a:ext cx="10515600" cy="4351338"/>
          </a:xfrm>
        </p:spPr>
        <p:txBody>
          <a:bodyPr>
            <a:normAutofit/>
          </a:bodyPr>
          <a:lstStyle/>
          <a:p>
            <a:pPr marL="114300" indent="0">
              <a:lnSpc>
                <a:spcPct val="100000"/>
              </a:lnSpc>
              <a:buNone/>
            </a:pPr>
            <a:r>
              <a:rPr lang="en-IN" sz="2200" dirty="0">
                <a:latin typeface="Times New Roman" panose="02020603050405020304" pitchFamily="18" charset="0"/>
                <a:cs typeface="Times New Roman" panose="02020603050405020304" pitchFamily="18" charset="0"/>
              </a:rPr>
              <a:t>Grocery stores generate data across products, suppliers, customers, employees, and orders. Without a structured system, this data becomes difficult to manage and analyze effectively.</a:t>
            </a:r>
          </a:p>
          <a:p>
            <a:pPr marL="114300" indent="0">
              <a:lnSpc>
                <a:spcPct val="100000"/>
              </a:lnSpc>
              <a:buNone/>
            </a:pPr>
            <a:r>
              <a:rPr lang="en-IN" sz="2200" b="1" dirty="0">
                <a:latin typeface="Times New Roman" panose="02020603050405020304" pitchFamily="18" charset="0"/>
                <a:cs typeface="Times New Roman" panose="02020603050405020304" pitchFamily="18" charset="0"/>
              </a:rPr>
              <a:t>Key Challenges</a:t>
            </a:r>
            <a:endParaRPr lang="en-IN" sz="2200" dirty="0">
              <a:latin typeface="Times New Roman" panose="02020603050405020304" pitchFamily="18" charset="0"/>
              <a:cs typeface="Times New Roman" panose="02020603050405020304" pitchFamily="18" charset="0"/>
            </a:endParaRPr>
          </a:p>
          <a:p>
            <a:pPr lvl="0">
              <a:lnSpc>
                <a:spcPct val="100000"/>
              </a:lnSpc>
            </a:pPr>
            <a:r>
              <a:rPr lang="en-IN" sz="2200" dirty="0">
                <a:latin typeface="Times New Roman" panose="02020603050405020304" pitchFamily="18" charset="0"/>
                <a:cs typeface="Times New Roman" panose="02020603050405020304" pitchFamily="18" charset="0"/>
              </a:rPr>
              <a:t>Managing product, supplier, and category information </a:t>
            </a:r>
          </a:p>
          <a:p>
            <a:pPr lvl="0">
              <a:lnSpc>
                <a:spcPct val="100000"/>
              </a:lnSpc>
            </a:pPr>
            <a:r>
              <a:rPr lang="en-IN" sz="2200" dirty="0">
                <a:latin typeface="Times New Roman" panose="02020603050405020304" pitchFamily="18" charset="0"/>
                <a:cs typeface="Times New Roman" panose="02020603050405020304" pitchFamily="18" charset="0"/>
              </a:rPr>
              <a:t>Tracking orders and sales efficiently </a:t>
            </a:r>
          </a:p>
          <a:p>
            <a:pPr lvl="0">
              <a:lnSpc>
                <a:spcPct val="100000"/>
              </a:lnSpc>
            </a:pPr>
            <a:r>
              <a:rPr lang="en-IN" sz="2200" dirty="0">
                <a:latin typeface="Times New Roman" panose="02020603050405020304" pitchFamily="18" charset="0"/>
                <a:cs typeface="Times New Roman" panose="02020603050405020304" pitchFamily="18" charset="0"/>
              </a:rPr>
              <a:t>Understanding customer purchasing patterns </a:t>
            </a:r>
          </a:p>
          <a:p>
            <a:pPr lvl="0">
              <a:lnSpc>
                <a:spcPct val="100000"/>
              </a:lnSpc>
            </a:pPr>
            <a:r>
              <a:rPr lang="en-IN" sz="2200" dirty="0">
                <a:latin typeface="Times New Roman" panose="02020603050405020304" pitchFamily="18" charset="0"/>
                <a:cs typeface="Times New Roman" panose="02020603050405020304" pitchFamily="18" charset="0"/>
              </a:rPr>
              <a:t>Identifying top-performing products and categories </a:t>
            </a:r>
          </a:p>
          <a:p>
            <a:pPr lvl="0">
              <a:lnSpc>
                <a:spcPct val="100000"/>
              </a:lnSpc>
            </a:pPr>
            <a:r>
              <a:rPr lang="en-IN" sz="2200" dirty="0">
                <a:latin typeface="Times New Roman" panose="02020603050405020304" pitchFamily="18" charset="0"/>
                <a:cs typeface="Times New Roman" panose="02020603050405020304" pitchFamily="18" charset="0"/>
              </a:rPr>
              <a:t>Analyzing revenue and overall business performance </a:t>
            </a:r>
          </a:p>
          <a:p>
            <a:pPr lvl="0">
              <a:lnSpc>
                <a:spcPct val="100000"/>
              </a:lnSpc>
            </a:pPr>
            <a:r>
              <a:rPr lang="en-IN" sz="2200" dirty="0">
                <a:latin typeface="Times New Roman" panose="02020603050405020304" pitchFamily="18" charset="0"/>
                <a:cs typeface="Times New Roman" panose="02020603050405020304" pitchFamily="18" charset="0"/>
              </a:rPr>
              <a:t>Generating quick, reliable insights for decision-making</a:t>
            </a:r>
          </a:p>
          <a:p>
            <a:endParaRPr lang="en-IN" dirty="0"/>
          </a:p>
        </p:txBody>
      </p:sp>
    </p:spTree>
    <p:extLst>
      <p:ext uri="{BB962C8B-B14F-4D97-AF65-F5344CB8AC3E}">
        <p14:creationId xmlns:p14="http://schemas.microsoft.com/office/powerpoint/2010/main" val="3133108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598B-D76A-236B-9A9C-86946841E6F5}"/>
              </a:ext>
            </a:extLst>
          </p:cNvPr>
          <p:cNvSpPr>
            <a:spLocks noGrp="1"/>
          </p:cNvSpPr>
          <p:nvPr>
            <p:ph type="title"/>
          </p:nvPr>
        </p:nvSpPr>
        <p:spPr/>
        <p:txBody>
          <a:bodyPr/>
          <a:lstStyle/>
          <a:p>
            <a:pPr algn="just"/>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PROBLEM</a:t>
            </a:r>
            <a:r>
              <a:rPr lang="en-US"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STATEMENT</a:t>
            </a:r>
            <a:endParaRPr lang="en-IN" b="1"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C8BC877-EE49-E54C-C5DE-627666210F85}"/>
              </a:ext>
            </a:extLst>
          </p:cNvPr>
          <p:cNvSpPr>
            <a:spLocks noGrp="1"/>
          </p:cNvSpPr>
          <p:nvPr>
            <p:ph type="body" idx="1"/>
          </p:nvPr>
        </p:nvSpPr>
        <p:spPr>
          <a:xfrm>
            <a:off x="838200" y="1341071"/>
            <a:ext cx="10775462" cy="4351338"/>
          </a:xfrm>
        </p:spPr>
        <p:txBody>
          <a:bodyPr>
            <a:normAutofit/>
          </a:bodyPr>
          <a:lstStyle/>
          <a:p>
            <a:pPr marL="114300" indent="0">
              <a:lnSpc>
                <a:spcPct val="100000"/>
              </a:lnSpc>
              <a:buNone/>
            </a:pPr>
            <a:r>
              <a:rPr lang="en-IN" sz="2000" dirty="0">
                <a:latin typeface="Times New Roman" panose="02020603050405020304" pitchFamily="18" charset="0"/>
                <a:cs typeface="Times New Roman" panose="02020603050405020304" pitchFamily="18" charset="0"/>
              </a:rPr>
              <a:t>To address these challenges, we developed a centralized Grocery Store Management System using SQL to organize and manage information related to products, suppliers, customers, employees, and orders. We then use SQL queries to analyze the data and generate meaningful business insights for better decision-making.</a:t>
            </a:r>
          </a:p>
        </p:txBody>
      </p:sp>
    </p:spTree>
    <p:extLst>
      <p:ext uri="{BB962C8B-B14F-4D97-AF65-F5344CB8AC3E}">
        <p14:creationId xmlns:p14="http://schemas.microsoft.com/office/powerpoint/2010/main" val="45380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5817C-6459-69F5-17E5-8087FC2630A6}"/>
              </a:ext>
            </a:extLst>
          </p:cNvPr>
          <p:cNvSpPr>
            <a:spLocks noGrp="1"/>
          </p:cNvSpPr>
          <p:nvPr>
            <p:ph type="title"/>
          </p:nvPr>
        </p:nvSpPr>
        <p:spPr/>
        <p:txBody>
          <a:bodyPr/>
          <a:lstStyle/>
          <a:p>
            <a:r>
              <a:rPr lang="en-US" b="1" dirty="0">
                <a:solidFill>
                  <a:srgbClr val="FF0000"/>
                </a:solidFill>
              </a:rPr>
              <a:t>INTRODUCTION</a:t>
            </a:r>
            <a:endParaRPr lang="en-IN" b="1" dirty="0">
              <a:solidFill>
                <a:srgbClr val="FF0000"/>
              </a:solidFill>
            </a:endParaRPr>
          </a:p>
        </p:txBody>
      </p:sp>
      <p:sp>
        <p:nvSpPr>
          <p:cNvPr id="3" name="Text Placeholder 2">
            <a:extLst>
              <a:ext uri="{FF2B5EF4-FFF2-40B4-BE49-F238E27FC236}">
                <a16:creationId xmlns:a16="http://schemas.microsoft.com/office/drawing/2014/main" id="{48A46377-3878-91DF-6F96-365C1401A393}"/>
              </a:ext>
            </a:extLst>
          </p:cNvPr>
          <p:cNvSpPr>
            <a:spLocks noGrp="1"/>
          </p:cNvSpPr>
          <p:nvPr>
            <p:ph type="body" idx="1"/>
          </p:nvPr>
        </p:nvSpPr>
        <p:spPr>
          <a:xfrm>
            <a:off x="720969" y="1411409"/>
            <a:ext cx="10515600" cy="4351338"/>
          </a:xfrm>
        </p:spPr>
        <p:txBody>
          <a:bodyPr>
            <a:normAutofit/>
          </a:bodyPr>
          <a:lstStyle/>
          <a:p>
            <a:pPr marL="114300" indent="0">
              <a:buNone/>
            </a:pPr>
            <a:r>
              <a:rPr lang="en-IN" sz="2400" dirty="0">
                <a:latin typeface="Times New Roman" panose="02020603050405020304" pitchFamily="18" charset="0"/>
                <a:cs typeface="Times New Roman" panose="02020603050405020304" pitchFamily="18" charset="0"/>
              </a:rPr>
              <a:t>The Grocery Store Management System is a database management project developed using MySQL to efficiently organize and manage the day-to-day data of a grocery store.</a:t>
            </a:r>
          </a:p>
          <a:p>
            <a:pPr marL="114300" indent="0">
              <a:buNone/>
            </a:pPr>
            <a:r>
              <a:rPr lang="en-IN" sz="2400" dirty="0">
                <a:latin typeface="Times New Roman" panose="02020603050405020304" pitchFamily="18" charset="0"/>
                <a:cs typeface="Times New Roman" panose="02020603050405020304" pitchFamily="18" charset="0"/>
              </a:rPr>
              <a:t>The project brings together information about products, categories, suppliers, customers, employees, and orders into a structured relational database.</a:t>
            </a:r>
          </a:p>
          <a:p>
            <a:pPr marL="114300" indent="0">
              <a:buNone/>
            </a:pPr>
            <a:r>
              <a:rPr lang="en-IN" sz="2400" dirty="0">
                <a:latin typeface="Times New Roman" panose="02020603050405020304" pitchFamily="18" charset="0"/>
                <a:cs typeface="Times New Roman" panose="02020603050405020304" pitchFamily="18" charset="0"/>
              </a:rPr>
              <a:t>Using SQL queries, joins, aggregations, subqueries, and other SQL operations, the system allows us to retrieve relevant information, analyze store data, and generate useful business insights.</a:t>
            </a:r>
          </a:p>
          <a:p>
            <a:pPr marL="114300" indent="0">
              <a:buNone/>
            </a:pPr>
            <a:endParaRPr lang="en-IN" b="1" dirty="0"/>
          </a:p>
          <a:p>
            <a:pPr marL="11430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1974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6186-C1B1-121A-A6C2-45723C82935D}"/>
              </a:ext>
            </a:extLst>
          </p:cNvPr>
          <p:cNvSpPr>
            <a:spLocks noGrp="1"/>
          </p:cNvSpPr>
          <p:nvPr>
            <p:ph type="title"/>
          </p:nvPr>
        </p:nvSpPr>
        <p:spPr>
          <a:xfrm>
            <a:off x="838201" y="120283"/>
            <a:ext cx="10515600" cy="1325563"/>
          </a:xfrm>
        </p:spPr>
        <p:txBody>
          <a:bodyPr/>
          <a:lstStyle/>
          <a:p>
            <a:r>
              <a:rPr lang="en-US" b="1" dirty="0">
                <a:solidFill>
                  <a:srgbClr val="FF0000"/>
                </a:solidFill>
              </a:rPr>
              <a:t>DATA DESCRIPTION</a:t>
            </a:r>
            <a:endParaRPr lang="en-IN" b="1" dirty="0">
              <a:solidFill>
                <a:srgbClr val="FF0000"/>
              </a:solidFill>
            </a:endParaRPr>
          </a:p>
        </p:txBody>
      </p:sp>
      <p:sp>
        <p:nvSpPr>
          <p:cNvPr id="3" name="Text Placeholder 2">
            <a:extLst>
              <a:ext uri="{FF2B5EF4-FFF2-40B4-BE49-F238E27FC236}">
                <a16:creationId xmlns:a16="http://schemas.microsoft.com/office/drawing/2014/main" id="{5CA9A9F9-4A53-80A4-E21F-E32BA1B83C05}"/>
              </a:ext>
            </a:extLst>
          </p:cNvPr>
          <p:cNvSpPr>
            <a:spLocks noGrp="1"/>
          </p:cNvSpPr>
          <p:nvPr>
            <p:ph type="body" idx="1"/>
          </p:nvPr>
        </p:nvSpPr>
        <p:spPr>
          <a:xfrm>
            <a:off x="838199" y="1073707"/>
            <a:ext cx="11272285" cy="5444051"/>
          </a:xfrm>
        </p:spPr>
        <p:txBody>
          <a:bodyPr>
            <a:normAutofit/>
          </a:bodyPr>
          <a:lstStyle/>
          <a:p>
            <a:pPr marL="114300" indent="0">
              <a:lnSpc>
                <a:spcPct val="120000"/>
              </a:lnSpc>
              <a:buNone/>
            </a:pPr>
            <a:br>
              <a:rPr lang="en-IN" sz="8000" dirty="0">
                <a:latin typeface="Times New Roman" panose="02020603050405020304" pitchFamily="18" charset="0"/>
                <a:cs typeface="Times New Roman" panose="02020603050405020304" pitchFamily="18" charset="0"/>
              </a:rPr>
            </a:br>
            <a:endParaRPr lang="en-IN" sz="8000" dirty="0">
              <a:latin typeface="Times New Roman" panose="02020603050405020304" pitchFamily="18" charset="0"/>
              <a:cs typeface="Times New Roman" panose="02020603050405020304" pitchFamily="18" charset="0"/>
            </a:endParaRPr>
          </a:p>
          <a:p>
            <a:pPr marL="114300" indent="0">
              <a:lnSpc>
                <a:spcPct val="120000"/>
              </a:lnSpc>
              <a:buNone/>
            </a:pPr>
            <a:endParaRPr lang="en-IN" sz="8000" dirty="0">
              <a:latin typeface="Times New Roman" panose="02020603050405020304" pitchFamily="18" charset="0"/>
              <a:cs typeface="Times New Roman" panose="02020603050405020304" pitchFamily="18" charset="0"/>
            </a:endParaRPr>
          </a:p>
          <a:p>
            <a:pPr marL="114300" indent="0">
              <a:buNone/>
            </a:pPr>
            <a:endParaRPr lang="en-IN" dirty="0"/>
          </a:p>
        </p:txBody>
      </p:sp>
      <p:graphicFrame>
        <p:nvGraphicFramePr>
          <p:cNvPr id="6" name="Table 5">
            <a:extLst>
              <a:ext uri="{FF2B5EF4-FFF2-40B4-BE49-F238E27FC236}">
                <a16:creationId xmlns:a16="http://schemas.microsoft.com/office/drawing/2014/main" id="{02D6C384-BB0E-5DF0-31D5-DB3A242FF164}"/>
              </a:ext>
            </a:extLst>
          </p:cNvPr>
          <p:cNvGraphicFramePr>
            <a:graphicFrameLocks noGrp="1"/>
          </p:cNvGraphicFramePr>
          <p:nvPr>
            <p:extLst>
              <p:ext uri="{D42A27DB-BD31-4B8C-83A1-F6EECF244321}">
                <p14:modId xmlns:p14="http://schemas.microsoft.com/office/powerpoint/2010/main" val="1612621099"/>
              </p:ext>
            </p:extLst>
          </p:nvPr>
        </p:nvGraphicFramePr>
        <p:xfrm>
          <a:off x="894080" y="1219200"/>
          <a:ext cx="9865360" cy="4915694"/>
        </p:xfrm>
        <a:graphic>
          <a:graphicData uri="http://schemas.openxmlformats.org/drawingml/2006/table">
            <a:tbl>
              <a:tblPr firstRow="1">
                <a:tableStyleId>{21E4AEA4-8DFA-4A89-87EB-49C32662AFE0}</a:tableStyleId>
              </a:tblPr>
              <a:tblGrid>
                <a:gridCol w="3251200">
                  <a:extLst>
                    <a:ext uri="{9D8B030D-6E8A-4147-A177-3AD203B41FA5}">
                      <a16:colId xmlns:a16="http://schemas.microsoft.com/office/drawing/2014/main" val="737768669"/>
                    </a:ext>
                  </a:extLst>
                </a:gridCol>
                <a:gridCol w="3307080">
                  <a:extLst>
                    <a:ext uri="{9D8B030D-6E8A-4147-A177-3AD203B41FA5}">
                      <a16:colId xmlns:a16="http://schemas.microsoft.com/office/drawing/2014/main" val="3891220176"/>
                    </a:ext>
                  </a:extLst>
                </a:gridCol>
                <a:gridCol w="3307080">
                  <a:extLst>
                    <a:ext uri="{9D8B030D-6E8A-4147-A177-3AD203B41FA5}">
                      <a16:colId xmlns:a16="http://schemas.microsoft.com/office/drawing/2014/main" val="2913469923"/>
                    </a:ext>
                  </a:extLst>
                </a:gridCol>
              </a:tblGrid>
              <a:tr h="351121">
                <a:tc>
                  <a:txBody>
                    <a:bodyPr/>
                    <a:lstStyle/>
                    <a:p>
                      <a:pPr>
                        <a:buNone/>
                      </a:pPr>
                      <a:r>
                        <a:rPr lang="en-IN" b="1" dirty="0"/>
                        <a:t>Table Name</a:t>
                      </a:r>
                    </a:p>
                  </a:txBody>
                  <a:tcPr anchor="ctr"/>
                </a:tc>
                <a:tc>
                  <a:txBody>
                    <a:bodyPr/>
                    <a:lstStyle/>
                    <a:p>
                      <a:pPr>
                        <a:buNone/>
                      </a:pPr>
                      <a:r>
                        <a:rPr lang="en-IN" b="1" dirty="0"/>
                        <a:t>Column Name</a:t>
                      </a:r>
                    </a:p>
                  </a:txBody>
                  <a:tcPr anchor="ctr"/>
                </a:tc>
                <a:tc>
                  <a:txBody>
                    <a:bodyPr/>
                    <a:lstStyle/>
                    <a:p>
                      <a:pPr>
                        <a:buNone/>
                      </a:pPr>
                      <a:r>
                        <a:rPr lang="en-IN" b="1" dirty="0"/>
                        <a:t>Data Type</a:t>
                      </a:r>
                    </a:p>
                  </a:txBody>
                  <a:tcPr anchor="ctr"/>
                </a:tc>
                <a:extLst>
                  <a:ext uri="{0D108BD9-81ED-4DB2-BD59-A6C34878D82A}">
                    <a16:rowId xmlns:a16="http://schemas.microsoft.com/office/drawing/2014/main" val="2397111482"/>
                  </a:ext>
                </a:extLst>
              </a:tr>
              <a:tr h="351121">
                <a:tc>
                  <a:txBody>
                    <a:bodyPr/>
                    <a:lstStyle/>
                    <a:p>
                      <a:pPr>
                        <a:buNone/>
                      </a:pPr>
                      <a:r>
                        <a:rPr lang="en-IN"/>
                        <a:t>Suppliers</a:t>
                      </a:r>
                    </a:p>
                  </a:txBody>
                  <a:tcPr anchor="ctr"/>
                </a:tc>
                <a:tc>
                  <a:txBody>
                    <a:bodyPr/>
                    <a:lstStyle/>
                    <a:p>
                      <a:pPr>
                        <a:buNone/>
                      </a:pPr>
                      <a:r>
                        <a:rPr lang="en-IN"/>
                        <a:t>sup_id</a:t>
                      </a:r>
                    </a:p>
                  </a:txBody>
                  <a:tcPr anchor="ctr"/>
                </a:tc>
                <a:tc>
                  <a:txBody>
                    <a:bodyPr/>
                    <a:lstStyle/>
                    <a:p>
                      <a:pPr>
                        <a:buNone/>
                      </a:pPr>
                      <a:r>
                        <a:rPr lang="en-IN"/>
                        <a:t>TINYINT</a:t>
                      </a:r>
                    </a:p>
                  </a:txBody>
                  <a:tcPr anchor="ctr"/>
                </a:tc>
                <a:extLst>
                  <a:ext uri="{0D108BD9-81ED-4DB2-BD59-A6C34878D82A}">
                    <a16:rowId xmlns:a16="http://schemas.microsoft.com/office/drawing/2014/main" val="516681400"/>
                  </a:ext>
                </a:extLst>
              </a:tr>
              <a:tr h="351121">
                <a:tc>
                  <a:txBody>
                    <a:bodyPr/>
                    <a:lstStyle/>
                    <a:p>
                      <a:pPr>
                        <a:buNone/>
                      </a:pPr>
                      <a:r>
                        <a:rPr lang="en-IN"/>
                        <a:t>Suppliers</a:t>
                      </a:r>
                    </a:p>
                  </a:txBody>
                  <a:tcPr anchor="ctr"/>
                </a:tc>
                <a:tc>
                  <a:txBody>
                    <a:bodyPr/>
                    <a:lstStyle/>
                    <a:p>
                      <a:pPr>
                        <a:buNone/>
                      </a:pPr>
                      <a:r>
                        <a:rPr lang="en-IN"/>
                        <a:t>sup_name</a:t>
                      </a:r>
                    </a:p>
                  </a:txBody>
                  <a:tcPr anchor="ctr"/>
                </a:tc>
                <a:tc>
                  <a:txBody>
                    <a:bodyPr/>
                    <a:lstStyle/>
                    <a:p>
                      <a:pPr>
                        <a:buNone/>
                      </a:pPr>
                      <a:r>
                        <a:rPr lang="en-IN" dirty="0"/>
                        <a:t>VARCHAR(255)</a:t>
                      </a:r>
                    </a:p>
                  </a:txBody>
                  <a:tcPr anchor="ctr"/>
                </a:tc>
                <a:extLst>
                  <a:ext uri="{0D108BD9-81ED-4DB2-BD59-A6C34878D82A}">
                    <a16:rowId xmlns:a16="http://schemas.microsoft.com/office/drawing/2014/main" val="3010552646"/>
                  </a:ext>
                </a:extLst>
              </a:tr>
              <a:tr h="351121">
                <a:tc>
                  <a:txBody>
                    <a:bodyPr/>
                    <a:lstStyle/>
                    <a:p>
                      <a:pPr>
                        <a:buNone/>
                      </a:pPr>
                      <a:r>
                        <a:rPr lang="en-IN"/>
                        <a:t>Suppliers</a:t>
                      </a:r>
                    </a:p>
                  </a:txBody>
                  <a:tcPr anchor="ctr"/>
                </a:tc>
                <a:tc>
                  <a:txBody>
                    <a:bodyPr/>
                    <a:lstStyle/>
                    <a:p>
                      <a:pPr>
                        <a:buNone/>
                      </a:pPr>
                      <a:r>
                        <a:rPr lang="en-IN"/>
                        <a:t>address</a:t>
                      </a:r>
                    </a:p>
                  </a:txBody>
                  <a:tcPr anchor="ctr"/>
                </a:tc>
                <a:tc>
                  <a:txBody>
                    <a:bodyPr/>
                    <a:lstStyle/>
                    <a:p>
                      <a:pPr>
                        <a:buNone/>
                      </a:pPr>
                      <a:r>
                        <a:rPr lang="en-IN"/>
                        <a:t>TEXT</a:t>
                      </a:r>
                    </a:p>
                  </a:txBody>
                  <a:tcPr anchor="ctr"/>
                </a:tc>
                <a:extLst>
                  <a:ext uri="{0D108BD9-81ED-4DB2-BD59-A6C34878D82A}">
                    <a16:rowId xmlns:a16="http://schemas.microsoft.com/office/drawing/2014/main" val="1970515182"/>
                  </a:ext>
                </a:extLst>
              </a:tr>
              <a:tr h="351121">
                <a:tc>
                  <a:txBody>
                    <a:bodyPr/>
                    <a:lstStyle/>
                    <a:p>
                      <a:pPr>
                        <a:buNone/>
                      </a:pPr>
                      <a:r>
                        <a:rPr lang="en-IN"/>
                        <a:t>Categories</a:t>
                      </a:r>
                    </a:p>
                  </a:txBody>
                  <a:tcPr anchor="ctr"/>
                </a:tc>
                <a:tc>
                  <a:txBody>
                    <a:bodyPr/>
                    <a:lstStyle/>
                    <a:p>
                      <a:pPr>
                        <a:buNone/>
                      </a:pPr>
                      <a:r>
                        <a:rPr lang="en-IN"/>
                        <a:t>cat_id</a:t>
                      </a:r>
                    </a:p>
                  </a:txBody>
                  <a:tcPr anchor="ctr"/>
                </a:tc>
                <a:tc>
                  <a:txBody>
                    <a:bodyPr/>
                    <a:lstStyle/>
                    <a:p>
                      <a:pPr>
                        <a:buNone/>
                      </a:pPr>
                      <a:r>
                        <a:rPr lang="en-IN"/>
                        <a:t>TINYINT</a:t>
                      </a:r>
                    </a:p>
                  </a:txBody>
                  <a:tcPr anchor="ctr"/>
                </a:tc>
                <a:extLst>
                  <a:ext uri="{0D108BD9-81ED-4DB2-BD59-A6C34878D82A}">
                    <a16:rowId xmlns:a16="http://schemas.microsoft.com/office/drawing/2014/main" val="3954169683"/>
                  </a:ext>
                </a:extLst>
              </a:tr>
              <a:tr h="351121">
                <a:tc>
                  <a:txBody>
                    <a:bodyPr/>
                    <a:lstStyle/>
                    <a:p>
                      <a:pPr>
                        <a:buNone/>
                      </a:pPr>
                      <a:r>
                        <a:rPr lang="en-IN"/>
                        <a:t>Categories</a:t>
                      </a:r>
                    </a:p>
                  </a:txBody>
                  <a:tcPr anchor="ctr"/>
                </a:tc>
                <a:tc>
                  <a:txBody>
                    <a:bodyPr/>
                    <a:lstStyle/>
                    <a:p>
                      <a:pPr>
                        <a:buNone/>
                      </a:pPr>
                      <a:r>
                        <a:rPr lang="en-IN"/>
                        <a:t>cat_name</a:t>
                      </a:r>
                    </a:p>
                  </a:txBody>
                  <a:tcPr anchor="ctr"/>
                </a:tc>
                <a:tc>
                  <a:txBody>
                    <a:bodyPr/>
                    <a:lstStyle/>
                    <a:p>
                      <a:pPr>
                        <a:buNone/>
                      </a:pPr>
                      <a:r>
                        <a:rPr lang="en-IN"/>
                        <a:t>VARCHAR(255)</a:t>
                      </a:r>
                    </a:p>
                  </a:txBody>
                  <a:tcPr anchor="ctr"/>
                </a:tc>
                <a:extLst>
                  <a:ext uri="{0D108BD9-81ED-4DB2-BD59-A6C34878D82A}">
                    <a16:rowId xmlns:a16="http://schemas.microsoft.com/office/drawing/2014/main" val="2255160137"/>
                  </a:ext>
                </a:extLst>
              </a:tr>
              <a:tr h="351121">
                <a:tc>
                  <a:txBody>
                    <a:bodyPr/>
                    <a:lstStyle/>
                    <a:p>
                      <a:pPr>
                        <a:buNone/>
                      </a:pPr>
                      <a:r>
                        <a:rPr lang="en-IN"/>
                        <a:t>Store Employees</a:t>
                      </a:r>
                    </a:p>
                  </a:txBody>
                  <a:tcPr anchor="ctr"/>
                </a:tc>
                <a:tc>
                  <a:txBody>
                    <a:bodyPr/>
                    <a:lstStyle/>
                    <a:p>
                      <a:pPr>
                        <a:buNone/>
                      </a:pPr>
                      <a:r>
                        <a:rPr lang="en-IN"/>
                        <a:t>emp_id</a:t>
                      </a:r>
                    </a:p>
                  </a:txBody>
                  <a:tcPr anchor="ctr"/>
                </a:tc>
                <a:tc>
                  <a:txBody>
                    <a:bodyPr/>
                    <a:lstStyle/>
                    <a:p>
                      <a:pPr>
                        <a:buNone/>
                      </a:pPr>
                      <a:r>
                        <a:rPr lang="en-IN"/>
                        <a:t>TINYINT</a:t>
                      </a:r>
                    </a:p>
                  </a:txBody>
                  <a:tcPr anchor="ctr"/>
                </a:tc>
                <a:extLst>
                  <a:ext uri="{0D108BD9-81ED-4DB2-BD59-A6C34878D82A}">
                    <a16:rowId xmlns:a16="http://schemas.microsoft.com/office/drawing/2014/main" val="1561662847"/>
                  </a:ext>
                </a:extLst>
              </a:tr>
              <a:tr h="351121">
                <a:tc>
                  <a:txBody>
                    <a:bodyPr/>
                    <a:lstStyle/>
                    <a:p>
                      <a:pPr>
                        <a:buNone/>
                      </a:pPr>
                      <a:r>
                        <a:rPr lang="en-IN"/>
                        <a:t>Store Employees</a:t>
                      </a:r>
                    </a:p>
                  </a:txBody>
                  <a:tcPr anchor="ctr"/>
                </a:tc>
                <a:tc>
                  <a:txBody>
                    <a:bodyPr/>
                    <a:lstStyle/>
                    <a:p>
                      <a:pPr>
                        <a:buNone/>
                      </a:pPr>
                      <a:r>
                        <a:rPr lang="en-IN"/>
                        <a:t>emp_name</a:t>
                      </a:r>
                    </a:p>
                  </a:txBody>
                  <a:tcPr anchor="ctr"/>
                </a:tc>
                <a:tc>
                  <a:txBody>
                    <a:bodyPr/>
                    <a:lstStyle/>
                    <a:p>
                      <a:pPr>
                        <a:buNone/>
                      </a:pPr>
                      <a:r>
                        <a:rPr lang="en-IN"/>
                        <a:t>VARCHAR(255)</a:t>
                      </a:r>
                    </a:p>
                  </a:txBody>
                  <a:tcPr anchor="ctr"/>
                </a:tc>
                <a:extLst>
                  <a:ext uri="{0D108BD9-81ED-4DB2-BD59-A6C34878D82A}">
                    <a16:rowId xmlns:a16="http://schemas.microsoft.com/office/drawing/2014/main" val="2906137988"/>
                  </a:ext>
                </a:extLst>
              </a:tr>
              <a:tr h="351121">
                <a:tc>
                  <a:txBody>
                    <a:bodyPr/>
                    <a:lstStyle/>
                    <a:p>
                      <a:pPr>
                        <a:buNone/>
                      </a:pPr>
                      <a:r>
                        <a:rPr lang="en-IN"/>
                        <a:t>Store Employees</a:t>
                      </a:r>
                    </a:p>
                  </a:txBody>
                  <a:tcPr anchor="ctr"/>
                </a:tc>
                <a:tc>
                  <a:txBody>
                    <a:bodyPr/>
                    <a:lstStyle/>
                    <a:p>
                      <a:pPr>
                        <a:buNone/>
                      </a:pPr>
                      <a:r>
                        <a:rPr lang="en-IN"/>
                        <a:t>hire_date</a:t>
                      </a:r>
                    </a:p>
                  </a:txBody>
                  <a:tcPr anchor="ctr"/>
                </a:tc>
                <a:tc>
                  <a:txBody>
                    <a:bodyPr/>
                    <a:lstStyle/>
                    <a:p>
                      <a:pPr>
                        <a:buNone/>
                      </a:pPr>
                      <a:r>
                        <a:rPr lang="en-IN"/>
                        <a:t>VARCHAR(255)</a:t>
                      </a:r>
                    </a:p>
                  </a:txBody>
                  <a:tcPr anchor="ctr"/>
                </a:tc>
                <a:extLst>
                  <a:ext uri="{0D108BD9-81ED-4DB2-BD59-A6C34878D82A}">
                    <a16:rowId xmlns:a16="http://schemas.microsoft.com/office/drawing/2014/main" val="4277196684"/>
                  </a:ext>
                </a:extLst>
              </a:tr>
              <a:tr h="351121">
                <a:tc>
                  <a:txBody>
                    <a:bodyPr/>
                    <a:lstStyle/>
                    <a:p>
                      <a:pPr>
                        <a:buNone/>
                      </a:pPr>
                      <a:r>
                        <a:rPr lang="en-IN"/>
                        <a:t>Customers</a:t>
                      </a:r>
                    </a:p>
                  </a:txBody>
                  <a:tcPr anchor="ctr"/>
                </a:tc>
                <a:tc>
                  <a:txBody>
                    <a:bodyPr/>
                    <a:lstStyle/>
                    <a:p>
                      <a:pPr>
                        <a:buNone/>
                      </a:pPr>
                      <a:r>
                        <a:rPr lang="en-IN"/>
                        <a:t>cust_id</a:t>
                      </a:r>
                    </a:p>
                  </a:txBody>
                  <a:tcPr anchor="ctr"/>
                </a:tc>
                <a:tc>
                  <a:txBody>
                    <a:bodyPr/>
                    <a:lstStyle/>
                    <a:p>
                      <a:pPr>
                        <a:buNone/>
                      </a:pPr>
                      <a:r>
                        <a:rPr lang="en-IN"/>
                        <a:t>SMALLINT</a:t>
                      </a:r>
                    </a:p>
                  </a:txBody>
                  <a:tcPr anchor="ctr"/>
                </a:tc>
                <a:extLst>
                  <a:ext uri="{0D108BD9-81ED-4DB2-BD59-A6C34878D82A}">
                    <a16:rowId xmlns:a16="http://schemas.microsoft.com/office/drawing/2014/main" val="1542203772"/>
                  </a:ext>
                </a:extLst>
              </a:tr>
              <a:tr h="351121">
                <a:tc>
                  <a:txBody>
                    <a:bodyPr/>
                    <a:lstStyle/>
                    <a:p>
                      <a:pPr>
                        <a:buNone/>
                      </a:pPr>
                      <a:r>
                        <a:rPr lang="en-IN"/>
                        <a:t>Customers</a:t>
                      </a:r>
                    </a:p>
                  </a:txBody>
                  <a:tcPr anchor="ctr"/>
                </a:tc>
                <a:tc>
                  <a:txBody>
                    <a:bodyPr/>
                    <a:lstStyle/>
                    <a:p>
                      <a:pPr>
                        <a:buNone/>
                      </a:pPr>
                      <a:r>
                        <a:rPr lang="en-IN"/>
                        <a:t>cust_name</a:t>
                      </a:r>
                    </a:p>
                  </a:txBody>
                  <a:tcPr anchor="ctr"/>
                </a:tc>
                <a:tc>
                  <a:txBody>
                    <a:bodyPr/>
                    <a:lstStyle/>
                    <a:p>
                      <a:pPr>
                        <a:buNone/>
                      </a:pPr>
                      <a:r>
                        <a:rPr lang="en-IN"/>
                        <a:t>VARCHAR(255)</a:t>
                      </a:r>
                    </a:p>
                  </a:txBody>
                  <a:tcPr anchor="ctr"/>
                </a:tc>
                <a:extLst>
                  <a:ext uri="{0D108BD9-81ED-4DB2-BD59-A6C34878D82A}">
                    <a16:rowId xmlns:a16="http://schemas.microsoft.com/office/drawing/2014/main" val="3197233588"/>
                  </a:ext>
                </a:extLst>
              </a:tr>
              <a:tr h="351121">
                <a:tc>
                  <a:txBody>
                    <a:bodyPr/>
                    <a:lstStyle/>
                    <a:p>
                      <a:pPr>
                        <a:buNone/>
                      </a:pPr>
                      <a:r>
                        <a:rPr lang="en-IN"/>
                        <a:t>Customers</a:t>
                      </a:r>
                    </a:p>
                  </a:txBody>
                  <a:tcPr anchor="ctr"/>
                </a:tc>
                <a:tc>
                  <a:txBody>
                    <a:bodyPr/>
                    <a:lstStyle/>
                    <a:p>
                      <a:pPr>
                        <a:buNone/>
                      </a:pPr>
                      <a:r>
                        <a:rPr lang="en-IN"/>
                        <a:t>address</a:t>
                      </a:r>
                    </a:p>
                  </a:txBody>
                  <a:tcPr anchor="ctr"/>
                </a:tc>
                <a:tc>
                  <a:txBody>
                    <a:bodyPr/>
                    <a:lstStyle/>
                    <a:p>
                      <a:pPr>
                        <a:buNone/>
                      </a:pPr>
                      <a:r>
                        <a:rPr lang="en-IN"/>
                        <a:t>TEXT</a:t>
                      </a:r>
                    </a:p>
                  </a:txBody>
                  <a:tcPr anchor="ctr"/>
                </a:tc>
                <a:extLst>
                  <a:ext uri="{0D108BD9-81ED-4DB2-BD59-A6C34878D82A}">
                    <a16:rowId xmlns:a16="http://schemas.microsoft.com/office/drawing/2014/main" val="767921841"/>
                  </a:ext>
                </a:extLst>
              </a:tr>
              <a:tr h="351121">
                <a:tc>
                  <a:txBody>
                    <a:bodyPr/>
                    <a:lstStyle/>
                    <a:p>
                      <a:pPr>
                        <a:buNone/>
                      </a:pPr>
                      <a:r>
                        <a:rPr lang="en-IN"/>
                        <a:t>Products</a:t>
                      </a:r>
                    </a:p>
                  </a:txBody>
                  <a:tcPr anchor="ctr"/>
                </a:tc>
                <a:tc>
                  <a:txBody>
                    <a:bodyPr/>
                    <a:lstStyle/>
                    <a:p>
                      <a:pPr>
                        <a:buNone/>
                      </a:pPr>
                      <a:r>
                        <a:rPr lang="en-IN"/>
                        <a:t>prod_id</a:t>
                      </a:r>
                    </a:p>
                  </a:txBody>
                  <a:tcPr anchor="ctr"/>
                </a:tc>
                <a:tc>
                  <a:txBody>
                    <a:bodyPr/>
                    <a:lstStyle/>
                    <a:p>
                      <a:pPr>
                        <a:buNone/>
                      </a:pPr>
                      <a:r>
                        <a:rPr lang="en-IN"/>
                        <a:t>TINYINT</a:t>
                      </a:r>
                    </a:p>
                  </a:txBody>
                  <a:tcPr anchor="ctr"/>
                </a:tc>
                <a:extLst>
                  <a:ext uri="{0D108BD9-81ED-4DB2-BD59-A6C34878D82A}">
                    <a16:rowId xmlns:a16="http://schemas.microsoft.com/office/drawing/2014/main" val="3327149103"/>
                  </a:ext>
                </a:extLst>
              </a:tr>
              <a:tr h="351121">
                <a:tc>
                  <a:txBody>
                    <a:bodyPr/>
                    <a:lstStyle/>
                    <a:p>
                      <a:pPr>
                        <a:buNone/>
                      </a:pPr>
                      <a:r>
                        <a:rPr lang="en-IN"/>
                        <a:t>Products</a:t>
                      </a:r>
                    </a:p>
                  </a:txBody>
                  <a:tcPr anchor="ctr"/>
                </a:tc>
                <a:tc>
                  <a:txBody>
                    <a:bodyPr/>
                    <a:lstStyle/>
                    <a:p>
                      <a:pPr>
                        <a:buNone/>
                      </a:pPr>
                      <a:r>
                        <a:rPr lang="en-IN"/>
                        <a:t>prod_name</a:t>
                      </a:r>
                    </a:p>
                  </a:txBody>
                  <a:tcPr anchor="ctr"/>
                </a:tc>
                <a:tc>
                  <a:txBody>
                    <a:bodyPr/>
                    <a:lstStyle/>
                    <a:p>
                      <a:pPr>
                        <a:buNone/>
                      </a:pPr>
                      <a:r>
                        <a:rPr lang="en-IN" dirty="0"/>
                        <a:t>VARCHAR(255)</a:t>
                      </a:r>
                    </a:p>
                  </a:txBody>
                  <a:tcPr anchor="ctr"/>
                </a:tc>
                <a:extLst>
                  <a:ext uri="{0D108BD9-81ED-4DB2-BD59-A6C34878D82A}">
                    <a16:rowId xmlns:a16="http://schemas.microsoft.com/office/drawing/2014/main" val="3224941580"/>
                  </a:ext>
                </a:extLst>
              </a:tr>
            </a:tbl>
          </a:graphicData>
        </a:graphic>
      </p:graphicFrame>
    </p:spTree>
    <p:extLst>
      <p:ext uri="{BB962C8B-B14F-4D97-AF65-F5344CB8AC3E}">
        <p14:creationId xmlns:p14="http://schemas.microsoft.com/office/powerpoint/2010/main" val="2617234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7423A2-9D5D-80CC-6EA6-3C89323C87B9}"/>
              </a:ext>
            </a:extLst>
          </p:cNvPr>
          <p:cNvSpPr>
            <a:spLocks noGrp="1"/>
          </p:cNvSpPr>
          <p:nvPr>
            <p:ph type="body" idx="1"/>
          </p:nvPr>
        </p:nvSpPr>
        <p:spPr>
          <a:xfrm>
            <a:off x="759046" y="578307"/>
            <a:ext cx="10515600" cy="5234393"/>
          </a:xfrm>
        </p:spPr>
        <p:txBody>
          <a:bodyPr>
            <a:normAutofit/>
          </a:bodyPr>
          <a:lstStyle/>
          <a:p>
            <a:pPr marL="114300" indent="0">
              <a:lnSpc>
                <a:spcPct val="120000"/>
              </a:lnSpc>
              <a:buNone/>
            </a:pPr>
            <a:endParaRPr lang="en-IN" sz="5000" dirty="0">
              <a:latin typeface="Times New Roman" panose="02020603050405020304" pitchFamily="18" charset="0"/>
              <a:cs typeface="Times New Roman" panose="02020603050405020304" pitchFamily="18" charset="0"/>
            </a:endParaRPr>
          </a:p>
          <a:p>
            <a:endParaRPr lang="en-IN" dirty="0"/>
          </a:p>
        </p:txBody>
      </p:sp>
      <p:graphicFrame>
        <p:nvGraphicFramePr>
          <p:cNvPr id="5" name="Table 4">
            <a:extLst>
              <a:ext uri="{FF2B5EF4-FFF2-40B4-BE49-F238E27FC236}">
                <a16:creationId xmlns:a16="http://schemas.microsoft.com/office/drawing/2014/main" id="{9740801D-E8FB-D11D-8A38-16C08BFDD6F1}"/>
              </a:ext>
            </a:extLst>
          </p:cNvPr>
          <p:cNvGraphicFramePr>
            <a:graphicFrameLocks noGrp="1"/>
          </p:cNvGraphicFramePr>
          <p:nvPr>
            <p:extLst>
              <p:ext uri="{D42A27DB-BD31-4B8C-83A1-F6EECF244321}">
                <p14:modId xmlns:p14="http://schemas.microsoft.com/office/powerpoint/2010/main" val="1130749839"/>
              </p:ext>
            </p:extLst>
          </p:nvPr>
        </p:nvGraphicFramePr>
        <p:xfrm>
          <a:off x="759046" y="578306"/>
          <a:ext cx="10515600" cy="5009690"/>
        </p:xfrm>
        <a:graphic>
          <a:graphicData uri="http://schemas.openxmlformats.org/drawingml/2006/table">
            <a:tbl>
              <a:tblPr firstRow="1">
                <a:tableStyleId>{21E4AEA4-8DFA-4A89-87EB-49C32662AFE0}</a:tableStyleId>
              </a:tblPr>
              <a:tblGrid>
                <a:gridCol w="3505200">
                  <a:extLst>
                    <a:ext uri="{9D8B030D-6E8A-4147-A177-3AD203B41FA5}">
                      <a16:colId xmlns:a16="http://schemas.microsoft.com/office/drawing/2014/main" val="1670220073"/>
                    </a:ext>
                  </a:extLst>
                </a:gridCol>
                <a:gridCol w="3505200">
                  <a:extLst>
                    <a:ext uri="{9D8B030D-6E8A-4147-A177-3AD203B41FA5}">
                      <a16:colId xmlns:a16="http://schemas.microsoft.com/office/drawing/2014/main" val="2392134521"/>
                    </a:ext>
                  </a:extLst>
                </a:gridCol>
                <a:gridCol w="3505200">
                  <a:extLst>
                    <a:ext uri="{9D8B030D-6E8A-4147-A177-3AD203B41FA5}">
                      <a16:colId xmlns:a16="http://schemas.microsoft.com/office/drawing/2014/main" val="2360105999"/>
                    </a:ext>
                  </a:extLst>
                </a:gridCol>
              </a:tblGrid>
              <a:tr h="357835">
                <a:tc>
                  <a:txBody>
                    <a:bodyPr/>
                    <a:lstStyle/>
                    <a:p>
                      <a:pPr>
                        <a:buNone/>
                      </a:pPr>
                      <a:r>
                        <a:rPr lang="en-IN"/>
                        <a:t>Table Name</a:t>
                      </a:r>
                    </a:p>
                  </a:txBody>
                  <a:tcPr anchor="ctr"/>
                </a:tc>
                <a:tc>
                  <a:txBody>
                    <a:bodyPr/>
                    <a:lstStyle/>
                    <a:p>
                      <a:pPr>
                        <a:buNone/>
                      </a:pPr>
                      <a:r>
                        <a:rPr lang="en-IN"/>
                        <a:t>Column Name</a:t>
                      </a:r>
                    </a:p>
                  </a:txBody>
                  <a:tcPr anchor="ctr"/>
                </a:tc>
                <a:tc>
                  <a:txBody>
                    <a:bodyPr/>
                    <a:lstStyle/>
                    <a:p>
                      <a:pPr>
                        <a:buNone/>
                      </a:pPr>
                      <a:r>
                        <a:rPr lang="en-IN"/>
                        <a:t>Data Type</a:t>
                      </a:r>
                    </a:p>
                  </a:txBody>
                  <a:tcPr anchor="ctr"/>
                </a:tc>
                <a:extLst>
                  <a:ext uri="{0D108BD9-81ED-4DB2-BD59-A6C34878D82A}">
                    <a16:rowId xmlns:a16="http://schemas.microsoft.com/office/drawing/2014/main" val="1838051598"/>
                  </a:ext>
                </a:extLst>
              </a:tr>
              <a:tr h="357835">
                <a:tc>
                  <a:txBody>
                    <a:bodyPr/>
                    <a:lstStyle/>
                    <a:p>
                      <a:pPr>
                        <a:buNone/>
                      </a:pPr>
                      <a:r>
                        <a:rPr lang="en-IN"/>
                        <a:t>Products</a:t>
                      </a:r>
                    </a:p>
                  </a:txBody>
                  <a:tcPr anchor="ctr"/>
                </a:tc>
                <a:tc>
                  <a:txBody>
                    <a:bodyPr/>
                    <a:lstStyle/>
                    <a:p>
                      <a:pPr>
                        <a:buNone/>
                      </a:pPr>
                      <a:r>
                        <a:rPr lang="en-IN"/>
                        <a:t>sup_id</a:t>
                      </a:r>
                    </a:p>
                  </a:txBody>
                  <a:tcPr anchor="ctr"/>
                </a:tc>
                <a:tc>
                  <a:txBody>
                    <a:bodyPr/>
                    <a:lstStyle/>
                    <a:p>
                      <a:pPr>
                        <a:buNone/>
                      </a:pPr>
                      <a:r>
                        <a:rPr lang="en-IN"/>
                        <a:t>TINYINT</a:t>
                      </a:r>
                    </a:p>
                  </a:txBody>
                  <a:tcPr anchor="ctr"/>
                </a:tc>
                <a:extLst>
                  <a:ext uri="{0D108BD9-81ED-4DB2-BD59-A6C34878D82A}">
                    <a16:rowId xmlns:a16="http://schemas.microsoft.com/office/drawing/2014/main" val="375708184"/>
                  </a:ext>
                </a:extLst>
              </a:tr>
              <a:tr h="357835">
                <a:tc>
                  <a:txBody>
                    <a:bodyPr/>
                    <a:lstStyle/>
                    <a:p>
                      <a:pPr>
                        <a:buNone/>
                      </a:pPr>
                      <a:r>
                        <a:rPr lang="en-IN"/>
                        <a:t>Products</a:t>
                      </a:r>
                    </a:p>
                  </a:txBody>
                  <a:tcPr anchor="ctr"/>
                </a:tc>
                <a:tc>
                  <a:txBody>
                    <a:bodyPr/>
                    <a:lstStyle/>
                    <a:p>
                      <a:pPr>
                        <a:buNone/>
                      </a:pPr>
                      <a:r>
                        <a:rPr lang="en-IN"/>
                        <a:t>cat_id</a:t>
                      </a:r>
                    </a:p>
                  </a:txBody>
                  <a:tcPr anchor="ctr"/>
                </a:tc>
                <a:tc>
                  <a:txBody>
                    <a:bodyPr/>
                    <a:lstStyle/>
                    <a:p>
                      <a:pPr>
                        <a:buNone/>
                      </a:pPr>
                      <a:r>
                        <a:rPr lang="en-IN"/>
                        <a:t>TINYINT</a:t>
                      </a:r>
                    </a:p>
                  </a:txBody>
                  <a:tcPr anchor="ctr"/>
                </a:tc>
                <a:extLst>
                  <a:ext uri="{0D108BD9-81ED-4DB2-BD59-A6C34878D82A}">
                    <a16:rowId xmlns:a16="http://schemas.microsoft.com/office/drawing/2014/main" val="3494186285"/>
                  </a:ext>
                </a:extLst>
              </a:tr>
              <a:tr h="357835">
                <a:tc>
                  <a:txBody>
                    <a:bodyPr/>
                    <a:lstStyle/>
                    <a:p>
                      <a:pPr>
                        <a:buNone/>
                      </a:pPr>
                      <a:r>
                        <a:rPr lang="en-IN"/>
                        <a:t>Products</a:t>
                      </a:r>
                    </a:p>
                  </a:txBody>
                  <a:tcPr anchor="ctr"/>
                </a:tc>
                <a:tc>
                  <a:txBody>
                    <a:bodyPr/>
                    <a:lstStyle/>
                    <a:p>
                      <a:pPr>
                        <a:buNone/>
                      </a:pPr>
                      <a:r>
                        <a:rPr lang="en-IN" dirty="0"/>
                        <a:t>price</a:t>
                      </a:r>
                    </a:p>
                  </a:txBody>
                  <a:tcPr anchor="ctr"/>
                </a:tc>
                <a:tc>
                  <a:txBody>
                    <a:bodyPr/>
                    <a:lstStyle/>
                    <a:p>
                      <a:pPr>
                        <a:buNone/>
                      </a:pPr>
                      <a:r>
                        <a:rPr lang="en-IN"/>
                        <a:t>DECIMAL(10,2)</a:t>
                      </a:r>
                    </a:p>
                  </a:txBody>
                  <a:tcPr anchor="ctr"/>
                </a:tc>
                <a:extLst>
                  <a:ext uri="{0D108BD9-81ED-4DB2-BD59-A6C34878D82A}">
                    <a16:rowId xmlns:a16="http://schemas.microsoft.com/office/drawing/2014/main" val="2626410139"/>
                  </a:ext>
                </a:extLst>
              </a:tr>
              <a:tr h="357835">
                <a:tc>
                  <a:txBody>
                    <a:bodyPr/>
                    <a:lstStyle/>
                    <a:p>
                      <a:pPr>
                        <a:buNone/>
                      </a:pPr>
                      <a:r>
                        <a:rPr lang="en-IN"/>
                        <a:t>Orders</a:t>
                      </a:r>
                    </a:p>
                  </a:txBody>
                  <a:tcPr anchor="ctr"/>
                </a:tc>
                <a:tc>
                  <a:txBody>
                    <a:bodyPr/>
                    <a:lstStyle/>
                    <a:p>
                      <a:pPr>
                        <a:buNone/>
                      </a:pPr>
                      <a:r>
                        <a:rPr lang="en-IN"/>
                        <a:t>ord_id</a:t>
                      </a:r>
                    </a:p>
                  </a:txBody>
                  <a:tcPr anchor="ctr"/>
                </a:tc>
                <a:tc>
                  <a:txBody>
                    <a:bodyPr/>
                    <a:lstStyle/>
                    <a:p>
                      <a:pPr>
                        <a:buNone/>
                      </a:pPr>
                      <a:r>
                        <a:rPr lang="en-IN"/>
                        <a:t>SMALLINT</a:t>
                      </a:r>
                    </a:p>
                  </a:txBody>
                  <a:tcPr anchor="ctr"/>
                </a:tc>
                <a:extLst>
                  <a:ext uri="{0D108BD9-81ED-4DB2-BD59-A6C34878D82A}">
                    <a16:rowId xmlns:a16="http://schemas.microsoft.com/office/drawing/2014/main" val="2661226401"/>
                  </a:ext>
                </a:extLst>
              </a:tr>
              <a:tr h="357835">
                <a:tc>
                  <a:txBody>
                    <a:bodyPr/>
                    <a:lstStyle/>
                    <a:p>
                      <a:pPr>
                        <a:buNone/>
                      </a:pPr>
                      <a:r>
                        <a:rPr lang="en-IN"/>
                        <a:t>Orders</a:t>
                      </a:r>
                    </a:p>
                  </a:txBody>
                  <a:tcPr anchor="ctr"/>
                </a:tc>
                <a:tc>
                  <a:txBody>
                    <a:bodyPr/>
                    <a:lstStyle/>
                    <a:p>
                      <a:pPr>
                        <a:buNone/>
                      </a:pPr>
                      <a:r>
                        <a:rPr lang="en-IN"/>
                        <a:t>cust_id</a:t>
                      </a:r>
                    </a:p>
                  </a:txBody>
                  <a:tcPr anchor="ctr"/>
                </a:tc>
                <a:tc>
                  <a:txBody>
                    <a:bodyPr/>
                    <a:lstStyle/>
                    <a:p>
                      <a:pPr>
                        <a:buNone/>
                      </a:pPr>
                      <a:r>
                        <a:rPr lang="en-IN"/>
                        <a:t>SMALLINT</a:t>
                      </a:r>
                    </a:p>
                  </a:txBody>
                  <a:tcPr anchor="ctr"/>
                </a:tc>
                <a:extLst>
                  <a:ext uri="{0D108BD9-81ED-4DB2-BD59-A6C34878D82A}">
                    <a16:rowId xmlns:a16="http://schemas.microsoft.com/office/drawing/2014/main" val="124490223"/>
                  </a:ext>
                </a:extLst>
              </a:tr>
              <a:tr h="357835">
                <a:tc>
                  <a:txBody>
                    <a:bodyPr/>
                    <a:lstStyle/>
                    <a:p>
                      <a:pPr>
                        <a:buNone/>
                      </a:pPr>
                      <a:r>
                        <a:rPr lang="en-IN"/>
                        <a:t>Orders</a:t>
                      </a:r>
                    </a:p>
                  </a:txBody>
                  <a:tcPr anchor="ctr"/>
                </a:tc>
                <a:tc>
                  <a:txBody>
                    <a:bodyPr/>
                    <a:lstStyle/>
                    <a:p>
                      <a:pPr>
                        <a:buNone/>
                      </a:pPr>
                      <a:r>
                        <a:rPr lang="en-IN"/>
                        <a:t>emp_id</a:t>
                      </a:r>
                    </a:p>
                  </a:txBody>
                  <a:tcPr anchor="ctr"/>
                </a:tc>
                <a:tc>
                  <a:txBody>
                    <a:bodyPr/>
                    <a:lstStyle/>
                    <a:p>
                      <a:pPr>
                        <a:buNone/>
                      </a:pPr>
                      <a:r>
                        <a:rPr lang="en-IN"/>
                        <a:t>TINYINT</a:t>
                      </a:r>
                    </a:p>
                  </a:txBody>
                  <a:tcPr anchor="ctr"/>
                </a:tc>
                <a:extLst>
                  <a:ext uri="{0D108BD9-81ED-4DB2-BD59-A6C34878D82A}">
                    <a16:rowId xmlns:a16="http://schemas.microsoft.com/office/drawing/2014/main" val="3488489554"/>
                  </a:ext>
                </a:extLst>
              </a:tr>
              <a:tr h="357835">
                <a:tc>
                  <a:txBody>
                    <a:bodyPr/>
                    <a:lstStyle/>
                    <a:p>
                      <a:pPr>
                        <a:buNone/>
                      </a:pPr>
                      <a:r>
                        <a:rPr lang="en-IN"/>
                        <a:t>Orders</a:t>
                      </a:r>
                    </a:p>
                  </a:txBody>
                  <a:tcPr anchor="ctr"/>
                </a:tc>
                <a:tc>
                  <a:txBody>
                    <a:bodyPr/>
                    <a:lstStyle/>
                    <a:p>
                      <a:pPr>
                        <a:buNone/>
                      </a:pPr>
                      <a:r>
                        <a:rPr lang="en-IN"/>
                        <a:t>order_date</a:t>
                      </a:r>
                    </a:p>
                  </a:txBody>
                  <a:tcPr anchor="ctr"/>
                </a:tc>
                <a:tc>
                  <a:txBody>
                    <a:bodyPr/>
                    <a:lstStyle/>
                    <a:p>
                      <a:pPr>
                        <a:buNone/>
                      </a:pPr>
                      <a:r>
                        <a:rPr lang="en-IN"/>
                        <a:t>VARCHAR(255)</a:t>
                      </a:r>
                    </a:p>
                  </a:txBody>
                  <a:tcPr anchor="ctr"/>
                </a:tc>
                <a:extLst>
                  <a:ext uri="{0D108BD9-81ED-4DB2-BD59-A6C34878D82A}">
                    <a16:rowId xmlns:a16="http://schemas.microsoft.com/office/drawing/2014/main" val="2726618155"/>
                  </a:ext>
                </a:extLst>
              </a:tr>
              <a:tr h="357835">
                <a:tc>
                  <a:txBody>
                    <a:bodyPr/>
                    <a:lstStyle/>
                    <a:p>
                      <a:pPr>
                        <a:buNone/>
                      </a:pPr>
                      <a:r>
                        <a:rPr lang="en-IN"/>
                        <a:t>Order Details</a:t>
                      </a:r>
                    </a:p>
                  </a:txBody>
                  <a:tcPr anchor="ctr"/>
                </a:tc>
                <a:tc>
                  <a:txBody>
                    <a:bodyPr/>
                    <a:lstStyle/>
                    <a:p>
                      <a:pPr>
                        <a:buNone/>
                      </a:pPr>
                      <a:r>
                        <a:rPr lang="en-IN"/>
                        <a:t>ord_detID</a:t>
                      </a:r>
                    </a:p>
                  </a:txBody>
                  <a:tcPr anchor="ctr"/>
                </a:tc>
                <a:tc>
                  <a:txBody>
                    <a:bodyPr/>
                    <a:lstStyle/>
                    <a:p>
                      <a:pPr>
                        <a:buNone/>
                      </a:pPr>
                      <a:r>
                        <a:rPr lang="en-IN"/>
                        <a:t>SMALLINT</a:t>
                      </a:r>
                    </a:p>
                  </a:txBody>
                  <a:tcPr anchor="ctr"/>
                </a:tc>
                <a:extLst>
                  <a:ext uri="{0D108BD9-81ED-4DB2-BD59-A6C34878D82A}">
                    <a16:rowId xmlns:a16="http://schemas.microsoft.com/office/drawing/2014/main" val="3086866495"/>
                  </a:ext>
                </a:extLst>
              </a:tr>
              <a:tr h="357835">
                <a:tc>
                  <a:txBody>
                    <a:bodyPr/>
                    <a:lstStyle/>
                    <a:p>
                      <a:pPr>
                        <a:buNone/>
                      </a:pPr>
                      <a:r>
                        <a:rPr lang="en-IN"/>
                        <a:t>Order Details</a:t>
                      </a:r>
                    </a:p>
                  </a:txBody>
                  <a:tcPr anchor="ctr"/>
                </a:tc>
                <a:tc>
                  <a:txBody>
                    <a:bodyPr/>
                    <a:lstStyle/>
                    <a:p>
                      <a:pPr>
                        <a:buNone/>
                      </a:pPr>
                      <a:r>
                        <a:rPr lang="en-IN"/>
                        <a:t>ord_id</a:t>
                      </a:r>
                    </a:p>
                  </a:txBody>
                  <a:tcPr anchor="ctr"/>
                </a:tc>
                <a:tc>
                  <a:txBody>
                    <a:bodyPr/>
                    <a:lstStyle/>
                    <a:p>
                      <a:pPr>
                        <a:buNone/>
                      </a:pPr>
                      <a:r>
                        <a:rPr lang="en-IN"/>
                        <a:t>SMALLINT</a:t>
                      </a:r>
                    </a:p>
                  </a:txBody>
                  <a:tcPr anchor="ctr"/>
                </a:tc>
                <a:extLst>
                  <a:ext uri="{0D108BD9-81ED-4DB2-BD59-A6C34878D82A}">
                    <a16:rowId xmlns:a16="http://schemas.microsoft.com/office/drawing/2014/main" val="3530059853"/>
                  </a:ext>
                </a:extLst>
              </a:tr>
              <a:tr h="357835">
                <a:tc>
                  <a:txBody>
                    <a:bodyPr/>
                    <a:lstStyle/>
                    <a:p>
                      <a:pPr>
                        <a:buNone/>
                      </a:pPr>
                      <a:r>
                        <a:rPr lang="en-IN"/>
                        <a:t>Order Details</a:t>
                      </a:r>
                    </a:p>
                  </a:txBody>
                  <a:tcPr anchor="ctr"/>
                </a:tc>
                <a:tc>
                  <a:txBody>
                    <a:bodyPr/>
                    <a:lstStyle/>
                    <a:p>
                      <a:pPr>
                        <a:buNone/>
                      </a:pPr>
                      <a:r>
                        <a:rPr lang="en-IN"/>
                        <a:t>prod_id</a:t>
                      </a:r>
                    </a:p>
                  </a:txBody>
                  <a:tcPr anchor="ctr"/>
                </a:tc>
                <a:tc>
                  <a:txBody>
                    <a:bodyPr/>
                    <a:lstStyle/>
                    <a:p>
                      <a:pPr>
                        <a:buNone/>
                      </a:pPr>
                      <a:r>
                        <a:rPr lang="en-IN"/>
                        <a:t>TINYINT</a:t>
                      </a:r>
                    </a:p>
                  </a:txBody>
                  <a:tcPr anchor="ctr"/>
                </a:tc>
                <a:extLst>
                  <a:ext uri="{0D108BD9-81ED-4DB2-BD59-A6C34878D82A}">
                    <a16:rowId xmlns:a16="http://schemas.microsoft.com/office/drawing/2014/main" val="3885689353"/>
                  </a:ext>
                </a:extLst>
              </a:tr>
              <a:tr h="357835">
                <a:tc>
                  <a:txBody>
                    <a:bodyPr/>
                    <a:lstStyle/>
                    <a:p>
                      <a:pPr>
                        <a:buNone/>
                      </a:pPr>
                      <a:r>
                        <a:rPr lang="en-IN"/>
                        <a:t>Order Details</a:t>
                      </a:r>
                    </a:p>
                  </a:txBody>
                  <a:tcPr anchor="ctr"/>
                </a:tc>
                <a:tc>
                  <a:txBody>
                    <a:bodyPr/>
                    <a:lstStyle/>
                    <a:p>
                      <a:pPr>
                        <a:buNone/>
                      </a:pPr>
                      <a:r>
                        <a:rPr lang="en-IN"/>
                        <a:t>quantity</a:t>
                      </a:r>
                    </a:p>
                  </a:txBody>
                  <a:tcPr anchor="ctr"/>
                </a:tc>
                <a:tc>
                  <a:txBody>
                    <a:bodyPr/>
                    <a:lstStyle/>
                    <a:p>
                      <a:pPr>
                        <a:buNone/>
                      </a:pPr>
                      <a:r>
                        <a:rPr lang="en-IN"/>
                        <a:t>TINYINT</a:t>
                      </a:r>
                    </a:p>
                  </a:txBody>
                  <a:tcPr anchor="ctr"/>
                </a:tc>
                <a:extLst>
                  <a:ext uri="{0D108BD9-81ED-4DB2-BD59-A6C34878D82A}">
                    <a16:rowId xmlns:a16="http://schemas.microsoft.com/office/drawing/2014/main" val="34890374"/>
                  </a:ext>
                </a:extLst>
              </a:tr>
              <a:tr h="357835">
                <a:tc>
                  <a:txBody>
                    <a:bodyPr/>
                    <a:lstStyle/>
                    <a:p>
                      <a:pPr>
                        <a:buNone/>
                      </a:pPr>
                      <a:r>
                        <a:rPr lang="en-IN"/>
                        <a:t>Order Details</a:t>
                      </a:r>
                    </a:p>
                  </a:txBody>
                  <a:tcPr anchor="ctr"/>
                </a:tc>
                <a:tc>
                  <a:txBody>
                    <a:bodyPr/>
                    <a:lstStyle/>
                    <a:p>
                      <a:pPr>
                        <a:buNone/>
                      </a:pPr>
                      <a:r>
                        <a:rPr lang="en-IN"/>
                        <a:t>each_price</a:t>
                      </a:r>
                    </a:p>
                  </a:txBody>
                  <a:tcPr anchor="ctr"/>
                </a:tc>
                <a:tc>
                  <a:txBody>
                    <a:bodyPr/>
                    <a:lstStyle/>
                    <a:p>
                      <a:pPr>
                        <a:buNone/>
                      </a:pPr>
                      <a:r>
                        <a:rPr lang="en-IN"/>
                        <a:t>DECIMAL(10,2)</a:t>
                      </a:r>
                    </a:p>
                  </a:txBody>
                  <a:tcPr anchor="ctr"/>
                </a:tc>
                <a:extLst>
                  <a:ext uri="{0D108BD9-81ED-4DB2-BD59-A6C34878D82A}">
                    <a16:rowId xmlns:a16="http://schemas.microsoft.com/office/drawing/2014/main" val="1704886339"/>
                  </a:ext>
                </a:extLst>
              </a:tr>
              <a:tr h="357835">
                <a:tc>
                  <a:txBody>
                    <a:bodyPr/>
                    <a:lstStyle/>
                    <a:p>
                      <a:pPr>
                        <a:buNone/>
                      </a:pPr>
                      <a:r>
                        <a:rPr lang="en-IN"/>
                        <a:t>Order Details</a:t>
                      </a:r>
                    </a:p>
                  </a:txBody>
                  <a:tcPr anchor="ctr"/>
                </a:tc>
                <a:tc>
                  <a:txBody>
                    <a:bodyPr/>
                    <a:lstStyle/>
                    <a:p>
                      <a:pPr>
                        <a:buNone/>
                      </a:pPr>
                      <a:r>
                        <a:rPr lang="en-IN"/>
                        <a:t>total_price</a:t>
                      </a:r>
                    </a:p>
                  </a:txBody>
                  <a:tcPr anchor="ctr"/>
                </a:tc>
                <a:tc>
                  <a:txBody>
                    <a:bodyPr/>
                    <a:lstStyle/>
                    <a:p>
                      <a:pPr>
                        <a:buNone/>
                      </a:pPr>
                      <a:r>
                        <a:rPr lang="en-IN" dirty="0"/>
                        <a:t>DECIMAL(10,2)</a:t>
                      </a:r>
                    </a:p>
                  </a:txBody>
                  <a:tcPr anchor="ctr"/>
                </a:tc>
                <a:extLst>
                  <a:ext uri="{0D108BD9-81ED-4DB2-BD59-A6C34878D82A}">
                    <a16:rowId xmlns:a16="http://schemas.microsoft.com/office/drawing/2014/main" val="1038747260"/>
                  </a:ext>
                </a:extLst>
              </a:tr>
            </a:tbl>
          </a:graphicData>
        </a:graphic>
      </p:graphicFrame>
    </p:spTree>
    <p:extLst>
      <p:ext uri="{BB962C8B-B14F-4D97-AF65-F5344CB8AC3E}">
        <p14:creationId xmlns:p14="http://schemas.microsoft.com/office/powerpoint/2010/main" val="165142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1DD6E-2AD5-34CD-BEA6-95BF5BB030DB}"/>
              </a:ext>
            </a:extLst>
          </p:cNvPr>
          <p:cNvSpPr>
            <a:spLocks noGrp="1"/>
          </p:cNvSpPr>
          <p:nvPr>
            <p:ph type="title"/>
          </p:nvPr>
        </p:nvSpPr>
        <p:spPr>
          <a:xfrm>
            <a:off x="838200" y="365126"/>
            <a:ext cx="10515600" cy="1049460"/>
          </a:xfrm>
        </p:spPr>
        <p:txBody>
          <a:bodyPr/>
          <a:lstStyle/>
          <a:p>
            <a:r>
              <a:rPr lang="en-US" b="1" dirty="0">
                <a:solidFill>
                  <a:srgbClr val="FF0000"/>
                </a:solidFill>
              </a:rPr>
              <a:t>E-R DIAGRAM</a:t>
            </a:r>
            <a:endParaRPr lang="en-IN" b="1" dirty="0">
              <a:solidFill>
                <a:srgbClr val="FF0000"/>
              </a:solidFill>
            </a:endParaRPr>
          </a:p>
        </p:txBody>
      </p:sp>
      <p:pic>
        <p:nvPicPr>
          <p:cNvPr id="5" name="Picture 4">
            <a:extLst>
              <a:ext uri="{FF2B5EF4-FFF2-40B4-BE49-F238E27FC236}">
                <a16:creationId xmlns:a16="http://schemas.microsoft.com/office/drawing/2014/main" id="{B3AE7F54-0B24-B6C3-AEF5-1E91FFC9259D}"/>
              </a:ext>
            </a:extLst>
          </p:cNvPr>
          <p:cNvPicPr>
            <a:picLocks noChangeAspect="1"/>
          </p:cNvPicPr>
          <p:nvPr/>
        </p:nvPicPr>
        <p:blipFill>
          <a:blip r:embed="rId2"/>
          <a:stretch>
            <a:fillRect/>
          </a:stretch>
        </p:blipFill>
        <p:spPr>
          <a:xfrm>
            <a:off x="1320800" y="1414586"/>
            <a:ext cx="9946640" cy="4600134"/>
          </a:xfrm>
          <a:prstGeom prst="rect">
            <a:avLst/>
          </a:prstGeom>
        </p:spPr>
      </p:pic>
    </p:spTree>
    <p:extLst>
      <p:ext uri="{BB962C8B-B14F-4D97-AF65-F5344CB8AC3E}">
        <p14:creationId xmlns:p14="http://schemas.microsoft.com/office/powerpoint/2010/main" val="2736421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FBDD8A9-65E7-CB7D-351A-320DDDDD31A5}"/>
              </a:ext>
            </a:extLst>
          </p:cNvPr>
          <p:cNvSpPr txBox="1"/>
          <p:nvPr/>
        </p:nvSpPr>
        <p:spPr>
          <a:xfrm>
            <a:off x="838200" y="337999"/>
            <a:ext cx="6096000" cy="769441"/>
          </a:xfrm>
          <a:prstGeom prst="rect">
            <a:avLst/>
          </a:prstGeom>
          <a:noFill/>
        </p:spPr>
        <p:txBody>
          <a:bodyPr wrap="square">
            <a:spAutoFit/>
          </a:bodyPr>
          <a:lstStyle/>
          <a:p>
            <a:r>
              <a:rPr lang="en-US" sz="4400" b="1" dirty="0">
                <a:solidFill>
                  <a:srgbClr val="FF0000"/>
                </a:solidFill>
                <a:latin typeface="Calibri" panose="020F0502020204030204" pitchFamily="34" charset="0"/>
                <a:ea typeface="Calibri" panose="020F0502020204030204" pitchFamily="34" charset="0"/>
                <a:cs typeface="Calibri" panose="020F0502020204030204" pitchFamily="34" charset="0"/>
              </a:rPr>
              <a:t>CARDINALITY</a:t>
            </a:r>
            <a:endParaRPr lang="en-IN"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38BBE44D-F4D6-9092-FE80-30A64BD629F1}"/>
              </a:ext>
            </a:extLst>
          </p:cNvPr>
          <p:cNvGraphicFramePr>
            <a:graphicFrameLocks noGrp="1"/>
          </p:cNvGraphicFramePr>
          <p:nvPr>
            <p:extLst>
              <p:ext uri="{D42A27DB-BD31-4B8C-83A1-F6EECF244321}">
                <p14:modId xmlns:p14="http://schemas.microsoft.com/office/powerpoint/2010/main" val="370367429"/>
              </p:ext>
            </p:extLst>
          </p:nvPr>
        </p:nvGraphicFramePr>
        <p:xfrm>
          <a:off x="838200" y="1381760"/>
          <a:ext cx="10515600" cy="4572000"/>
        </p:xfrm>
        <a:graphic>
          <a:graphicData uri="http://schemas.openxmlformats.org/drawingml/2006/table">
            <a:tbl>
              <a:tblPr firstRow="1">
                <a:tableStyleId>{21E4AEA4-8DFA-4A89-87EB-49C32662AFE0}</a:tableStyleId>
              </a:tblPr>
              <a:tblGrid>
                <a:gridCol w="3505200">
                  <a:extLst>
                    <a:ext uri="{9D8B030D-6E8A-4147-A177-3AD203B41FA5}">
                      <a16:colId xmlns:a16="http://schemas.microsoft.com/office/drawing/2014/main" val="1202174207"/>
                    </a:ext>
                  </a:extLst>
                </a:gridCol>
                <a:gridCol w="3505200">
                  <a:extLst>
                    <a:ext uri="{9D8B030D-6E8A-4147-A177-3AD203B41FA5}">
                      <a16:colId xmlns:a16="http://schemas.microsoft.com/office/drawing/2014/main" val="1402196425"/>
                    </a:ext>
                  </a:extLst>
                </a:gridCol>
                <a:gridCol w="3505200">
                  <a:extLst>
                    <a:ext uri="{9D8B030D-6E8A-4147-A177-3AD203B41FA5}">
                      <a16:colId xmlns:a16="http://schemas.microsoft.com/office/drawing/2014/main" val="3544621601"/>
                    </a:ext>
                  </a:extLst>
                </a:gridCol>
              </a:tblGrid>
              <a:tr h="571500">
                <a:tc>
                  <a:txBody>
                    <a:bodyPr/>
                    <a:lstStyle/>
                    <a:p>
                      <a:pPr>
                        <a:buNone/>
                      </a:pPr>
                      <a:r>
                        <a:rPr lang="en-IN"/>
                        <a:t>Parent Name</a:t>
                      </a:r>
                    </a:p>
                  </a:txBody>
                  <a:tcPr anchor="ctr"/>
                </a:tc>
                <a:tc>
                  <a:txBody>
                    <a:bodyPr/>
                    <a:lstStyle/>
                    <a:p>
                      <a:pPr>
                        <a:buNone/>
                      </a:pPr>
                      <a:r>
                        <a:rPr lang="en-IN" dirty="0"/>
                        <a:t>Child Name</a:t>
                      </a:r>
                    </a:p>
                  </a:txBody>
                  <a:tcPr anchor="ctr"/>
                </a:tc>
                <a:tc>
                  <a:txBody>
                    <a:bodyPr/>
                    <a:lstStyle/>
                    <a:p>
                      <a:pPr>
                        <a:buNone/>
                      </a:pPr>
                      <a:r>
                        <a:rPr lang="en-IN"/>
                        <a:t>Cardinality</a:t>
                      </a:r>
                    </a:p>
                  </a:txBody>
                  <a:tcPr anchor="ctr"/>
                </a:tc>
                <a:extLst>
                  <a:ext uri="{0D108BD9-81ED-4DB2-BD59-A6C34878D82A}">
                    <a16:rowId xmlns:a16="http://schemas.microsoft.com/office/drawing/2014/main" val="3653068706"/>
                  </a:ext>
                </a:extLst>
              </a:tr>
              <a:tr h="571500">
                <a:tc>
                  <a:txBody>
                    <a:bodyPr/>
                    <a:lstStyle/>
                    <a:p>
                      <a:pPr>
                        <a:buNone/>
                      </a:pPr>
                      <a:r>
                        <a:rPr lang="en-IN"/>
                        <a:t>Suppliers</a:t>
                      </a:r>
                    </a:p>
                  </a:txBody>
                  <a:tcPr anchor="ctr"/>
                </a:tc>
                <a:tc>
                  <a:txBody>
                    <a:bodyPr/>
                    <a:lstStyle/>
                    <a:p>
                      <a:pPr>
                        <a:buNone/>
                      </a:pPr>
                      <a:r>
                        <a:rPr lang="en-IN"/>
                        <a:t>Products</a:t>
                      </a:r>
                    </a:p>
                  </a:txBody>
                  <a:tcPr anchor="ctr"/>
                </a:tc>
                <a:tc>
                  <a:txBody>
                    <a:bodyPr/>
                    <a:lstStyle/>
                    <a:p>
                      <a:pPr>
                        <a:buNone/>
                      </a:pPr>
                      <a:r>
                        <a:rPr lang="en-IN"/>
                        <a:t>1:N</a:t>
                      </a:r>
                    </a:p>
                  </a:txBody>
                  <a:tcPr anchor="ctr"/>
                </a:tc>
                <a:extLst>
                  <a:ext uri="{0D108BD9-81ED-4DB2-BD59-A6C34878D82A}">
                    <a16:rowId xmlns:a16="http://schemas.microsoft.com/office/drawing/2014/main" val="2036688362"/>
                  </a:ext>
                </a:extLst>
              </a:tr>
              <a:tr h="571500">
                <a:tc>
                  <a:txBody>
                    <a:bodyPr/>
                    <a:lstStyle/>
                    <a:p>
                      <a:pPr>
                        <a:buNone/>
                      </a:pPr>
                      <a:r>
                        <a:rPr lang="en-IN"/>
                        <a:t>Categories</a:t>
                      </a:r>
                    </a:p>
                  </a:txBody>
                  <a:tcPr anchor="ctr"/>
                </a:tc>
                <a:tc>
                  <a:txBody>
                    <a:bodyPr/>
                    <a:lstStyle/>
                    <a:p>
                      <a:pPr>
                        <a:buNone/>
                      </a:pPr>
                      <a:r>
                        <a:rPr lang="en-IN"/>
                        <a:t>Products</a:t>
                      </a:r>
                    </a:p>
                  </a:txBody>
                  <a:tcPr anchor="ctr"/>
                </a:tc>
                <a:tc>
                  <a:txBody>
                    <a:bodyPr/>
                    <a:lstStyle/>
                    <a:p>
                      <a:pPr>
                        <a:buNone/>
                      </a:pPr>
                      <a:r>
                        <a:rPr lang="en-IN"/>
                        <a:t>1:N</a:t>
                      </a:r>
                    </a:p>
                  </a:txBody>
                  <a:tcPr anchor="ctr"/>
                </a:tc>
                <a:extLst>
                  <a:ext uri="{0D108BD9-81ED-4DB2-BD59-A6C34878D82A}">
                    <a16:rowId xmlns:a16="http://schemas.microsoft.com/office/drawing/2014/main" val="1441292590"/>
                  </a:ext>
                </a:extLst>
              </a:tr>
              <a:tr h="571500">
                <a:tc>
                  <a:txBody>
                    <a:bodyPr/>
                    <a:lstStyle/>
                    <a:p>
                      <a:pPr>
                        <a:buNone/>
                      </a:pPr>
                      <a:r>
                        <a:rPr lang="en-IN"/>
                        <a:t>Customers</a:t>
                      </a:r>
                    </a:p>
                  </a:txBody>
                  <a:tcPr anchor="ctr"/>
                </a:tc>
                <a:tc>
                  <a:txBody>
                    <a:bodyPr/>
                    <a:lstStyle/>
                    <a:p>
                      <a:pPr>
                        <a:buNone/>
                      </a:pPr>
                      <a:r>
                        <a:rPr lang="en-IN"/>
                        <a:t>Orders</a:t>
                      </a:r>
                    </a:p>
                  </a:txBody>
                  <a:tcPr anchor="ctr"/>
                </a:tc>
                <a:tc>
                  <a:txBody>
                    <a:bodyPr/>
                    <a:lstStyle/>
                    <a:p>
                      <a:pPr>
                        <a:buNone/>
                      </a:pPr>
                      <a:r>
                        <a:rPr lang="en-IN"/>
                        <a:t>1:N</a:t>
                      </a:r>
                    </a:p>
                  </a:txBody>
                  <a:tcPr anchor="ctr"/>
                </a:tc>
                <a:extLst>
                  <a:ext uri="{0D108BD9-81ED-4DB2-BD59-A6C34878D82A}">
                    <a16:rowId xmlns:a16="http://schemas.microsoft.com/office/drawing/2014/main" val="4028565323"/>
                  </a:ext>
                </a:extLst>
              </a:tr>
              <a:tr h="571500">
                <a:tc>
                  <a:txBody>
                    <a:bodyPr/>
                    <a:lstStyle/>
                    <a:p>
                      <a:pPr>
                        <a:buNone/>
                      </a:pPr>
                      <a:r>
                        <a:rPr lang="en-IN"/>
                        <a:t>Store Employees</a:t>
                      </a:r>
                    </a:p>
                  </a:txBody>
                  <a:tcPr anchor="ctr"/>
                </a:tc>
                <a:tc>
                  <a:txBody>
                    <a:bodyPr/>
                    <a:lstStyle/>
                    <a:p>
                      <a:pPr>
                        <a:buNone/>
                      </a:pPr>
                      <a:r>
                        <a:rPr lang="en-IN"/>
                        <a:t>Orders</a:t>
                      </a:r>
                    </a:p>
                  </a:txBody>
                  <a:tcPr anchor="ctr"/>
                </a:tc>
                <a:tc>
                  <a:txBody>
                    <a:bodyPr/>
                    <a:lstStyle/>
                    <a:p>
                      <a:pPr>
                        <a:buNone/>
                      </a:pPr>
                      <a:r>
                        <a:rPr lang="en-IN"/>
                        <a:t>1:N</a:t>
                      </a:r>
                    </a:p>
                  </a:txBody>
                  <a:tcPr anchor="ctr"/>
                </a:tc>
                <a:extLst>
                  <a:ext uri="{0D108BD9-81ED-4DB2-BD59-A6C34878D82A}">
                    <a16:rowId xmlns:a16="http://schemas.microsoft.com/office/drawing/2014/main" val="992326193"/>
                  </a:ext>
                </a:extLst>
              </a:tr>
              <a:tr h="571500">
                <a:tc>
                  <a:txBody>
                    <a:bodyPr/>
                    <a:lstStyle/>
                    <a:p>
                      <a:pPr>
                        <a:buNone/>
                      </a:pPr>
                      <a:r>
                        <a:rPr lang="en-IN"/>
                        <a:t>Orders</a:t>
                      </a:r>
                    </a:p>
                  </a:txBody>
                  <a:tcPr anchor="ctr"/>
                </a:tc>
                <a:tc>
                  <a:txBody>
                    <a:bodyPr/>
                    <a:lstStyle/>
                    <a:p>
                      <a:pPr>
                        <a:buNone/>
                      </a:pPr>
                      <a:r>
                        <a:rPr lang="en-IN"/>
                        <a:t>Order Details</a:t>
                      </a:r>
                    </a:p>
                  </a:txBody>
                  <a:tcPr anchor="ctr"/>
                </a:tc>
                <a:tc>
                  <a:txBody>
                    <a:bodyPr/>
                    <a:lstStyle/>
                    <a:p>
                      <a:pPr>
                        <a:buNone/>
                      </a:pPr>
                      <a:r>
                        <a:rPr lang="en-IN"/>
                        <a:t>1:N</a:t>
                      </a:r>
                    </a:p>
                  </a:txBody>
                  <a:tcPr anchor="ctr"/>
                </a:tc>
                <a:extLst>
                  <a:ext uri="{0D108BD9-81ED-4DB2-BD59-A6C34878D82A}">
                    <a16:rowId xmlns:a16="http://schemas.microsoft.com/office/drawing/2014/main" val="3420607298"/>
                  </a:ext>
                </a:extLst>
              </a:tr>
              <a:tr h="571500">
                <a:tc>
                  <a:txBody>
                    <a:bodyPr/>
                    <a:lstStyle/>
                    <a:p>
                      <a:pPr>
                        <a:buNone/>
                      </a:pPr>
                      <a:r>
                        <a:rPr lang="en-IN"/>
                        <a:t>Products</a:t>
                      </a:r>
                    </a:p>
                  </a:txBody>
                  <a:tcPr anchor="ctr"/>
                </a:tc>
                <a:tc>
                  <a:txBody>
                    <a:bodyPr/>
                    <a:lstStyle/>
                    <a:p>
                      <a:pPr>
                        <a:buNone/>
                      </a:pPr>
                      <a:r>
                        <a:rPr lang="en-IN"/>
                        <a:t>Order Details</a:t>
                      </a:r>
                    </a:p>
                  </a:txBody>
                  <a:tcPr anchor="ctr"/>
                </a:tc>
                <a:tc>
                  <a:txBody>
                    <a:bodyPr/>
                    <a:lstStyle/>
                    <a:p>
                      <a:pPr>
                        <a:buNone/>
                      </a:pPr>
                      <a:r>
                        <a:rPr lang="en-IN"/>
                        <a:t>1:N</a:t>
                      </a:r>
                    </a:p>
                  </a:txBody>
                  <a:tcPr anchor="ctr"/>
                </a:tc>
                <a:extLst>
                  <a:ext uri="{0D108BD9-81ED-4DB2-BD59-A6C34878D82A}">
                    <a16:rowId xmlns:a16="http://schemas.microsoft.com/office/drawing/2014/main" val="2763940870"/>
                  </a:ext>
                </a:extLst>
              </a:tr>
              <a:tr h="571500">
                <a:tc>
                  <a:txBody>
                    <a:bodyPr/>
                    <a:lstStyle/>
                    <a:p>
                      <a:pPr>
                        <a:buNone/>
                      </a:pPr>
                      <a:r>
                        <a:rPr lang="en-IN"/>
                        <a:t>Orders</a:t>
                      </a:r>
                    </a:p>
                  </a:txBody>
                  <a:tcPr anchor="ctr"/>
                </a:tc>
                <a:tc>
                  <a:txBody>
                    <a:bodyPr/>
                    <a:lstStyle/>
                    <a:p>
                      <a:pPr>
                        <a:buNone/>
                      </a:pPr>
                      <a:r>
                        <a:rPr lang="en-IN" dirty="0"/>
                        <a:t>Products</a:t>
                      </a:r>
                    </a:p>
                  </a:txBody>
                  <a:tcPr anchor="ctr"/>
                </a:tc>
                <a:tc>
                  <a:txBody>
                    <a:bodyPr/>
                    <a:lstStyle/>
                    <a:p>
                      <a:pPr>
                        <a:buNone/>
                      </a:pPr>
                      <a:r>
                        <a:rPr lang="en-IN" dirty="0"/>
                        <a:t>N:N</a:t>
                      </a:r>
                    </a:p>
                  </a:txBody>
                  <a:tcPr anchor="ctr"/>
                </a:tc>
                <a:extLst>
                  <a:ext uri="{0D108BD9-81ED-4DB2-BD59-A6C34878D82A}">
                    <a16:rowId xmlns:a16="http://schemas.microsoft.com/office/drawing/2014/main" val="3999995053"/>
                  </a:ext>
                </a:extLst>
              </a:tr>
            </a:tbl>
          </a:graphicData>
        </a:graphic>
      </p:graphicFrame>
    </p:spTree>
    <p:extLst>
      <p:ext uri="{BB962C8B-B14F-4D97-AF65-F5344CB8AC3E}">
        <p14:creationId xmlns:p14="http://schemas.microsoft.com/office/powerpoint/2010/main" val="3102683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9655F9-F567-8CF7-0909-6EB5BCDDECFF}"/>
              </a:ext>
            </a:extLst>
          </p:cNvPr>
          <p:cNvSpPr>
            <a:spLocks noGrp="1"/>
          </p:cNvSpPr>
          <p:nvPr>
            <p:ph type="body" idx="1"/>
          </p:nvPr>
        </p:nvSpPr>
        <p:spPr>
          <a:xfrm>
            <a:off x="452156" y="1241012"/>
            <a:ext cx="7156939" cy="5395790"/>
          </a:xfrm>
        </p:spPr>
        <p:txBody>
          <a:bodyPr>
            <a:normAutofit fontScale="70000" lnSpcReduction="20000"/>
          </a:bodyPr>
          <a:lstStyle/>
          <a:p>
            <a:pPr marL="114300" indent="0">
              <a:buNone/>
            </a:pPr>
            <a:r>
              <a:rPr lang="en-US" b="1" dirty="0">
                <a:latin typeface="Times New Roman" panose="02020603050405020304" pitchFamily="18" charset="0"/>
                <a:cs typeface="Times New Roman" panose="02020603050405020304" pitchFamily="18" charset="0"/>
              </a:rPr>
              <a:t> 1.Which customers have placed the highest number of orders?</a:t>
            </a:r>
          </a:p>
          <a:p>
            <a:pPr marL="114300" indent="0">
              <a:buNone/>
            </a:pPr>
            <a:endParaRPr lang="en-US" b="1"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WITH customer_ranking AS(</a:t>
            </a:r>
          </a:p>
          <a:p>
            <a:pPr marL="114300" indent="0">
              <a:buNone/>
            </a:pPr>
            <a:r>
              <a:rPr lang="en-US" dirty="0">
                <a:latin typeface="Times New Roman" panose="02020603050405020304" pitchFamily="18" charset="0"/>
                <a:cs typeface="Times New Roman" panose="02020603050405020304" pitchFamily="18" charset="0"/>
              </a:rPr>
              <a:t>   SELECT cust.cust_id, cust.cust_name,</a:t>
            </a:r>
          </a:p>
          <a:p>
            <a:pPr marL="114300" indent="0">
              <a:buNone/>
            </a:pPr>
            <a:r>
              <a:rPr lang="en-US" dirty="0">
                <a:latin typeface="Times New Roman" panose="02020603050405020304" pitchFamily="18" charset="0"/>
                <a:cs typeface="Times New Roman" panose="02020603050405020304" pitchFamily="18" charset="0"/>
              </a:rPr>
              <a:t>  COUNT(ord.ord_id) as no_of_orders,</a:t>
            </a:r>
          </a:p>
          <a:p>
            <a:pPr marL="114300" indent="0">
              <a:buNone/>
            </a:pPr>
            <a:r>
              <a:rPr lang="en-US" dirty="0">
                <a:latin typeface="Times New Roman" panose="02020603050405020304" pitchFamily="18" charset="0"/>
                <a:cs typeface="Times New Roman" panose="02020603050405020304" pitchFamily="18" charset="0"/>
              </a:rPr>
              <a:t>  RANK() OVER(ORDER BY</a:t>
            </a:r>
          </a:p>
          <a:p>
            <a:pPr marL="114300" indent="0">
              <a:buNone/>
            </a:pPr>
            <a:r>
              <a:rPr lang="en-US" dirty="0">
                <a:latin typeface="Times New Roman" panose="02020603050405020304" pitchFamily="18" charset="0"/>
                <a:cs typeface="Times New Roman" panose="02020603050405020304" pitchFamily="18" charset="0"/>
              </a:rPr>
              <a:t> COUNT(ord.ord_id)DESC) AS orders_rank</a:t>
            </a:r>
          </a:p>
          <a:p>
            <a:pPr marL="114300" indent="0">
              <a:buNone/>
            </a:pPr>
            <a:r>
              <a:rPr lang="en-US" dirty="0">
                <a:latin typeface="Times New Roman" panose="02020603050405020304" pitchFamily="18" charset="0"/>
                <a:cs typeface="Times New Roman" panose="02020603050405020304" pitchFamily="18" charset="0"/>
              </a:rPr>
              <a:t> FROM customers as cust</a:t>
            </a:r>
          </a:p>
          <a:p>
            <a:pPr marL="114300" indent="0">
              <a:buNone/>
            </a:pPr>
            <a:r>
              <a:rPr lang="en-US" dirty="0">
                <a:latin typeface="Times New Roman" panose="02020603050405020304" pitchFamily="18" charset="0"/>
                <a:cs typeface="Times New Roman" panose="02020603050405020304" pitchFamily="18" charset="0"/>
              </a:rPr>
              <a:t> JOIN orders as ord</a:t>
            </a:r>
          </a:p>
          <a:p>
            <a:pPr marL="114300" indent="0">
              <a:buNone/>
            </a:pPr>
            <a:r>
              <a:rPr lang="en-US" dirty="0">
                <a:latin typeface="Times New Roman" panose="02020603050405020304" pitchFamily="18" charset="0"/>
                <a:cs typeface="Times New Roman" panose="02020603050405020304" pitchFamily="18" charset="0"/>
              </a:rPr>
              <a:t> ON cust.cust_id=ord.cust_id</a:t>
            </a:r>
          </a:p>
          <a:p>
            <a:pPr marL="114300" indent="0">
              <a:buNone/>
            </a:pPr>
            <a:r>
              <a:rPr lang="en-US" dirty="0">
                <a:latin typeface="Times New Roman" panose="02020603050405020304" pitchFamily="18" charset="0"/>
                <a:cs typeface="Times New Roman" panose="02020603050405020304" pitchFamily="18" charset="0"/>
              </a:rPr>
              <a:t> GROUP BY cust.cust_id,cust.cust_name)</a:t>
            </a: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SELECT cust_id,cust_name,no_of_orders,orders_rank</a:t>
            </a:r>
          </a:p>
          <a:p>
            <a:pPr marL="114300" indent="0">
              <a:buNone/>
            </a:pPr>
            <a:r>
              <a:rPr lang="en-US" dirty="0">
                <a:latin typeface="Times New Roman" panose="02020603050405020304" pitchFamily="18" charset="0"/>
                <a:cs typeface="Times New Roman" panose="02020603050405020304" pitchFamily="18" charset="0"/>
              </a:rPr>
              <a:t>FROM customer_ranking</a:t>
            </a:r>
          </a:p>
          <a:p>
            <a:pPr marL="114300" indent="0">
              <a:buNone/>
            </a:pPr>
            <a:r>
              <a:rPr lang="en-US" dirty="0">
                <a:latin typeface="Times New Roman" panose="02020603050405020304" pitchFamily="18" charset="0"/>
                <a:cs typeface="Times New Roman" panose="02020603050405020304" pitchFamily="18" charset="0"/>
              </a:rPr>
              <a:t>WHERE orders_rank=1;</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CC5CBD2-BCEB-68C1-F9AA-B5976B533BDA}"/>
              </a:ext>
            </a:extLst>
          </p:cNvPr>
          <p:cNvPicPr>
            <a:picLocks noChangeAspect="1"/>
          </p:cNvPicPr>
          <p:nvPr/>
        </p:nvPicPr>
        <p:blipFill>
          <a:blip r:embed="rId2"/>
          <a:stretch>
            <a:fillRect/>
          </a:stretch>
        </p:blipFill>
        <p:spPr>
          <a:xfrm>
            <a:off x="7502769" y="1924493"/>
            <a:ext cx="4476307" cy="994601"/>
          </a:xfrm>
          <a:prstGeom prst="rect">
            <a:avLst/>
          </a:prstGeom>
        </p:spPr>
      </p:pic>
      <p:sp>
        <p:nvSpPr>
          <p:cNvPr id="4" name="TextBox 3">
            <a:extLst>
              <a:ext uri="{FF2B5EF4-FFF2-40B4-BE49-F238E27FC236}">
                <a16:creationId xmlns:a16="http://schemas.microsoft.com/office/drawing/2014/main" id="{2372F881-E379-4D7F-5980-FC914F567FB4}"/>
              </a:ext>
            </a:extLst>
          </p:cNvPr>
          <p:cNvSpPr txBox="1"/>
          <p:nvPr/>
        </p:nvSpPr>
        <p:spPr>
          <a:xfrm>
            <a:off x="677825" y="375508"/>
            <a:ext cx="6097772" cy="769441"/>
          </a:xfrm>
          <a:prstGeom prst="rect">
            <a:avLst/>
          </a:prstGeom>
          <a:noFill/>
        </p:spPr>
        <p:txBody>
          <a:bodyPr wrap="square">
            <a:spAutoFit/>
          </a:bodyPr>
          <a:lstStyle/>
          <a:p>
            <a:r>
              <a:rPr lang="en-US" sz="4400" b="1" dirty="0">
                <a:solidFill>
                  <a:srgbClr val="FF0000"/>
                </a:solidFill>
              </a:rPr>
              <a:t>QUERIES &amp; OUTPUTS</a:t>
            </a:r>
            <a:endParaRPr lang="en-IN" dirty="0"/>
          </a:p>
        </p:txBody>
      </p:sp>
    </p:spTree>
    <p:extLst>
      <p:ext uri="{BB962C8B-B14F-4D97-AF65-F5344CB8AC3E}">
        <p14:creationId xmlns:p14="http://schemas.microsoft.com/office/powerpoint/2010/main" val="328507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9D74EE1-FA58-572F-0DC2-9D43F7B3039D}"/>
              </a:ext>
            </a:extLst>
          </p:cNvPr>
          <p:cNvSpPr>
            <a:spLocks noGrp="1"/>
          </p:cNvSpPr>
          <p:nvPr>
            <p:ph type="body" idx="1"/>
          </p:nvPr>
        </p:nvSpPr>
        <p:spPr>
          <a:xfrm>
            <a:off x="416560" y="416560"/>
            <a:ext cx="6919905" cy="5760403"/>
          </a:xfrm>
        </p:spPr>
        <p:txBody>
          <a:bodyPr>
            <a:normAutofit fontScale="92500" lnSpcReduction="10000"/>
          </a:bodyPr>
          <a:lstStyle/>
          <a:p>
            <a:pPr marL="114300" indent="0">
              <a:buNone/>
            </a:pPr>
            <a:r>
              <a:rPr lang="en-IN" b="1" dirty="0">
                <a:latin typeface="Times New Roman" panose="02020603050405020304" pitchFamily="18" charset="0"/>
                <a:cs typeface="Times New Roman" panose="02020603050405020304" pitchFamily="18" charset="0"/>
              </a:rPr>
              <a:t>2.How do product sales vary by category and supplier?</a:t>
            </a:r>
          </a:p>
          <a:p>
            <a:pPr marL="114300" indent="0">
              <a:buNone/>
            </a:pPr>
            <a:endParaRPr lang="en-IN" dirty="0">
              <a:latin typeface="Times New Roman" panose="02020603050405020304" pitchFamily="18" charset="0"/>
              <a:cs typeface="Times New Roman" panose="02020603050405020304" pitchFamily="18" charset="0"/>
            </a:endParaRPr>
          </a:p>
          <a:p>
            <a:pPr marL="114300" indent="0">
              <a:buNone/>
            </a:pPr>
            <a:r>
              <a:rPr lang="en-IN" sz="2200" dirty="0">
                <a:latin typeface="Times New Roman" panose="02020603050405020304" pitchFamily="18" charset="0"/>
                <a:cs typeface="Times New Roman" panose="02020603050405020304" pitchFamily="18" charset="0"/>
              </a:rPr>
              <a:t>CREATE VIEW category_supplier_sales AS</a:t>
            </a:r>
          </a:p>
          <a:p>
            <a:pPr marL="114300" indent="0">
              <a:buNone/>
            </a:pPr>
            <a:r>
              <a:rPr lang="en-IN" sz="2200" dirty="0">
                <a:latin typeface="Times New Roman" panose="02020603050405020304" pitchFamily="18" charset="0"/>
                <a:cs typeface="Times New Roman" panose="02020603050405020304" pitchFamily="18" charset="0"/>
              </a:rPr>
              <a:t>SELECT  </a:t>
            </a:r>
          </a:p>
          <a:p>
            <a:pPr marL="114300" indent="0">
              <a:buNone/>
            </a:pPr>
            <a:r>
              <a:rPr lang="en-IN" sz="2200" dirty="0">
                <a:latin typeface="Times New Roman" panose="02020603050405020304" pitchFamily="18" charset="0"/>
                <a:cs typeface="Times New Roman" panose="02020603050405020304" pitchFamily="18" charset="0"/>
              </a:rPr>
              <a:t>      prod.cat_id,</a:t>
            </a:r>
          </a:p>
          <a:p>
            <a:pPr marL="114300" indent="0">
              <a:buNone/>
            </a:pPr>
            <a:r>
              <a:rPr lang="en-IN" sz="2200" dirty="0">
                <a:latin typeface="Times New Roman" panose="02020603050405020304" pitchFamily="18" charset="0"/>
                <a:cs typeface="Times New Roman" panose="02020603050405020304" pitchFamily="18" charset="0"/>
              </a:rPr>
              <a:t>      prod.sup_id,    </a:t>
            </a:r>
          </a:p>
          <a:p>
            <a:pPr marL="114300" indent="0">
              <a:buNone/>
            </a:pPr>
            <a:r>
              <a:rPr lang="en-IN" sz="2200" dirty="0">
                <a:latin typeface="Times New Roman" panose="02020603050405020304" pitchFamily="18" charset="0"/>
                <a:cs typeface="Times New Roman" panose="02020603050405020304" pitchFamily="18" charset="0"/>
              </a:rPr>
              <a:t>      SUM(ord_det.total_price) AS total_sales</a:t>
            </a:r>
          </a:p>
          <a:p>
            <a:pPr marL="114300" indent="0">
              <a:buNone/>
            </a:pPr>
            <a:r>
              <a:rPr lang="en-IN" sz="2200" dirty="0">
                <a:latin typeface="Times New Roman" panose="02020603050405020304" pitchFamily="18" charset="0"/>
                <a:cs typeface="Times New Roman" panose="02020603050405020304" pitchFamily="18" charset="0"/>
              </a:rPr>
              <a:t>FROM products AS prod</a:t>
            </a:r>
          </a:p>
          <a:p>
            <a:pPr marL="114300" indent="0">
              <a:buNone/>
            </a:pPr>
            <a:r>
              <a:rPr lang="en-IN" sz="2200" dirty="0">
                <a:latin typeface="Times New Roman" panose="02020603050405020304" pitchFamily="18" charset="0"/>
                <a:cs typeface="Times New Roman" panose="02020603050405020304" pitchFamily="18" charset="0"/>
              </a:rPr>
              <a:t>JOIN orderdetails AS ord_det </a:t>
            </a:r>
          </a:p>
          <a:p>
            <a:pPr marL="114300" indent="0">
              <a:buNone/>
            </a:pPr>
            <a:r>
              <a:rPr lang="en-IN" sz="2200" dirty="0">
                <a:latin typeface="Times New Roman" panose="02020603050405020304" pitchFamily="18" charset="0"/>
                <a:cs typeface="Times New Roman" panose="02020603050405020304" pitchFamily="18" charset="0"/>
              </a:rPr>
              <a:t>   ON prod.prod_id = ord_det.prod_id</a:t>
            </a:r>
          </a:p>
          <a:p>
            <a:pPr marL="114300" indent="0">
              <a:buNone/>
            </a:pPr>
            <a:r>
              <a:rPr lang="en-IN" sz="2200" dirty="0">
                <a:latin typeface="Times New Roman" panose="02020603050405020304" pitchFamily="18" charset="0"/>
                <a:cs typeface="Times New Roman" panose="02020603050405020304" pitchFamily="18" charset="0"/>
              </a:rPr>
              <a:t>GROUP BY prod.cat_id, prod.sup_id;</a:t>
            </a:r>
          </a:p>
          <a:p>
            <a:pPr marL="114300" indent="0">
              <a:buNone/>
            </a:pPr>
            <a:r>
              <a:rPr lang="en-IN" sz="2200" dirty="0">
                <a:latin typeface="Times New Roman" panose="02020603050405020304" pitchFamily="18" charset="0"/>
                <a:cs typeface="Times New Roman" panose="02020603050405020304" pitchFamily="18" charset="0"/>
              </a:rPr>
              <a:t>SELECT *FROM category_supplier_sales</a:t>
            </a:r>
          </a:p>
          <a:p>
            <a:pPr marL="114300" indent="0">
              <a:buNone/>
            </a:pPr>
            <a:r>
              <a:rPr lang="en-IN" sz="2200" dirty="0">
                <a:latin typeface="Times New Roman" panose="02020603050405020304" pitchFamily="18" charset="0"/>
                <a:cs typeface="Times New Roman" panose="02020603050405020304" pitchFamily="18" charset="0"/>
              </a:rPr>
              <a:t>ORDER BY total_sales DESC;</a:t>
            </a:r>
          </a:p>
        </p:txBody>
      </p:sp>
      <p:pic>
        <p:nvPicPr>
          <p:cNvPr id="5" name="Picture 4">
            <a:extLst>
              <a:ext uri="{FF2B5EF4-FFF2-40B4-BE49-F238E27FC236}">
                <a16:creationId xmlns:a16="http://schemas.microsoft.com/office/drawing/2014/main" id="{A842F68C-519C-4C07-7450-AE90AB40EA89}"/>
              </a:ext>
            </a:extLst>
          </p:cNvPr>
          <p:cNvPicPr>
            <a:picLocks noChangeAspect="1"/>
          </p:cNvPicPr>
          <p:nvPr/>
        </p:nvPicPr>
        <p:blipFill>
          <a:blip r:embed="rId2"/>
          <a:stretch>
            <a:fillRect/>
          </a:stretch>
        </p:blipFill>
        <p:spPr>
          <a:xfrm>
            <a:off x="7634177" y="804568"/>
            <a:ext cx="3466213" cy="2767972"/>
          </a:xfrm>
          <a:prstGeom prst="rect">
            <a:avLst/>
          </a:prstGeom>
        </p:spPr>
      </p:pic>
    </p:spTree>
    <p:extLst>
      <p:ext uri="{BB962C8B-B14F-4D97-AF65-F5344CB8AC3E}">
        <p14:creationId xmlns:p14="http://schemas.microsoft.com/office/powerpoint/2010/main" val="3358229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AE72A3F-CFC7-6449-9FA2-A9067C7C6DAA}"/>
              </a:ext>
            </a:extLst>
          </p:cNvPr>
          <p:cNvSpPr>
            <a:spLocks noGrp="1"/>
          </p:cNvSpPr>
          <p:nvPr>
            <p:ph type="body" idx="1"/>
          </p:nvPr>
        </p:nvSpPr>
        <p:spPr>
          <a:xfrm>
            <a:off x="489098" y="233916"/>
            <a:ext cx="7506586" cy="5943047"/>
          </a:xfrm>
        </p:spPr>
        <p:txBody>
          <a:bodyPr>
            <a:normAutofit fontScale="85000" lnSpcReduction="20000"/>
          </a:bodyPr>
          <a:lstStyle/>
          <a:p>
            <a:pPr marL="114300" indent="0">
              <a:buNone/>
            </a:pPr>
            <a:r>
              <a:rPr lang="en-US" b="1" dirty="0">
                <a:latin typeface="Times New Roman" panose="02020603050405020304" pitchFamily="18" charset="0"/>
                <a:cs typeface="Times New Roman" panose="02020603050405020304" pitchFamily="18" charset="0"/>
              </a:rPr>
              <a:t>3. On which dates were the most orders placed?</a:t>
            </a:r>
          </a:p>
          <a:p>
            <a:pPr marL="114300" indent="0">
              <a:buNone/>
            </a:pPr>
            <a:endParaRPr lang="en-US" b="1" dirty="0">
              <a:latin typeface="Times New Roman" panose="02020603050405020304" pitchFamily="18" charset="0"/>
              <a:cs typeface="Times New Roman" panose="02020603050405020304" pitchFamily="18" charset="0"/>
            </a:endParaRPr>
          </a:p>
          <a:p>
            <a:pPr marL="114300" indent="0">
              <a:buNone/>
            </a:pPr>
            <a:r>
              <a:rPr lang="en-US" dirty="0">
                <a:latin typeface="Times New Roman" panose="02020603050405020304" pitchFamily="18" charset="0"/>
                <a:cs typeface="Times New Roman" panose="02020603050405020304" pitchFamily="18" charset="0"/>
              </a:rPr>
              <a:t>SELECT </a:t>
            </a:r>
          </a:p>
          <a:p>
            <a:pPr marL="114300" indent="0">
              <a:buNone/>
            </a:pPr>
            <a:r>
              <a:rPr lang="en-US" dirty="0">
                <a:latin typeface="Times New Roman" panose="02020603050405020304" pitchFamily="18" charset="0"/>
                <a:cs typeface="Times New Roman" panose="02020603050405020304" pitchFamily="18" charset="0"/>
              </a:rPr>
              <a:t>     order_date, </a:t>
            </a:r>
          </a:p>
          <a:p>
            <a:pPr marL="114300" indent="0">
              <a:buNone/>
            </a:pPr>
            <a:r>
              <a:rPr lang="en-US" dirty="0">
                <a:latin typeface="Times New Roman" panose="02020603050405020304" pitchFamily="18" charset="0"/>
                <a:cs typeface="Times New Roman" panose="02020603050405020304" pitchFamily="18" charset="0"/>
              </a:rPr>
              <a:t>     total_orders</a:t>
            </a:r>
          </a:p>
          <a:p>
            <a:pPr marL="114300" indent="0">
              <a:buNone/>
            </a:pPr>
            <a:r>
              <a:rPr lang="en-US" dirty="0">
                <a:latin typeface="Times New Roman" panose="02020603050405020304" pitchFamily="18" charset="0"/>
                <a:cs typeface="Times New Roman" panose="02020603050405020304" pitchFamily="18" charset="0"/>
              </a:rPr>
              <a:t>FROM ( </a:t>
            </a:r>
          </a:p>
          <a:p>
            <a:pPr marL="114300" indent="0">
              <a:buNone/>
            </a:pPr>
            <a:r>
              <a:rPr lang="en-US" dirty="0">
                <a:latin typeface="Times New Roman" panose="02020603050405020304" pitchFamily="18" charset="0"/>
                <a:cs typeface="Times New Roman" panose="02020603050405020304" pitchFamily="18" charset="0"/>
              </a:rPr>
              <a:t>        SELECT </a:t>
            </a:r>
          </a:p>
          <a:p>
            <a:pPr marL="114300" indent="0">
              <a:buNone/>
            </a:pPr>
            <a:r>
              <a:rPr lang="en-US" dirty="0">
                <a:latin typeface="Times New Roman" panose="02020603050405020304" pitchFamily="18" charset="0"/>
                <a:cs typeface="Times New Roman" panose="02020603050405020304" pitchFamily="18" charset="0"/>
              </a:rPr>
              <a:t>                       order_date,</a:t>
            </a:r>
          </a:p>
          <a:p>
            <a:pPr marL="114300" indent="0">
              <a:buNone/>
            </a:pPr>
            <a:r>
              <a:rPr lang="en-US" dirty="0">
                <a:latin typeface="Times New Roman" panose="02020603050405020304" pitchFamily="18" charset="0"/>
                <a:cs typeface="Times New Roman" panose="02020603050405020304" pitchFamily="18" charset="0"/>
              </a:rPr>
              <a:t>                       COUNT(ord_id) AS total_orders,</a:t>
            </a:r>
          </a:p>
          <a:p>
            <a:pPr marL="114300" indent="0">
              <a:buNone/>
            </a:pPr>
            <a:r>
              <a:rPr lang="en-US" dirty="0">
                <a:latin typeface="Times New Roman" panose="02020603050405020304" pitchFamily="18" charset="0"/>
                <a:cs typeface="Times New Roman" panose="02020603050405020304" pitchFamily="18" charset="0"/>
              </a:rPr>
              <a:t>                       MAX(COUNT(ord_id)) OVER ()</a:t>
            </a:r>
          </a:p>
          <a:p>
            <a:pPr marL="114300" indent="0">
              <a:buNone/>
            </a:pPr>
            <a:r>
              <a:rPr lang="en-US" dirty="0">
                <a:latin typeface="Times New Roman" panose="02020603050405020304" pitchFamily="18" charset="0"/>
                <a:cs typeface="Times New Roman" panose="02020603050405020304" pitchFamily="18" charset="0"/>
              </a:rPr>
              <a:t>                      AS highest_orders   </a:t>
            </a:r>
          </a:p>
          <a:p>
            <a:pPr marL="114300" indent="0">
              <a:buNone/>
            </a:pPr>
            <a:r>
              <a:rPr lang="en-US" dirty="0">
                <a:latin typeface="Times New Roman" panose="02020603050405020304" pitchFamily="18" charset="0"/>
                <a:cs typeface="Times New Roman" panose="02020603050405020304" pitchFamily="18" charset="0"/>
              </a:rPr>
              <a:t>       FROM orders    </a:t>
            </a:r>
          </a:p>
          <a:p>
            <a:pPr marL="114300" indent="0">
              <a:buNone/>
            </a:pPr>
            <a:r>
              <a:rPr lang="en-US" dirty="0">
                <a:latin typeface="Times New Roman" panose="02020603050405020304" pitchFamily="18" charset="0"/>
                <a:cs typeface="Times New Roman" panose="02020603050405020304" pitchFamily="18" charset="0"/>
              </a:rPr>
              <a:t>       GROUP BY order_date)</a:t>
            </a:r>
          </a:p>
          <a:p>
            <a:pPr marL="114300" indent="0">
              <a:buNone/>
            </a:pPr>
            <a:r>
              <a:rPr lang="en-US" dirty="0">
                <a:latin typeface="Times New Roman" panose="02020603050405020304" pitchFamily="18" charset="0"/>
                <a:cs typeface="Times New Roman" panose="02020603050405020304" pitchFamily="18" charset="0"/>
              </a:rPr>
              <a:t> AS daily_orders</a:t>
            </a:r>
          </a:p>
          <a:p>
            <a:pPr marL="114300" indent="0">
              <a:buNone/>
            </a:pPr>
            <a:r>
              <a:rPr lang="en-US" dirty="0">
                <a:latin typeface="Times New Roman" panose="02020603050405020304" pitchFamily="18" charset="0"/>
                <a:cs typeface="Times New Roman" panose="02020603050405020304" pitchFamily="18" charset="0"/>
              </a:rPr>
              <a:t>       WHERE total_orders = highest_orders;</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780A0C7-24AA-15D7-EAEA-197DA2B1A81E}"/>
              </a:ext>
            </a:extLst>
          </p:cNvPr>
          <p:cNvPicPr>
            <a:picLocks noChangeAspect="1"/>
          </p:cNvPicPr>
          <p:nvPr/>
        </p:nvPicPr>
        <p:blipFill>
          <a:blip r:embed="rId2"/>
          <a:stretch>
            <a:fillRect/>
          </a:stretch>
        </p:blipFill>
        <p:spPr>
          <a:xfrm>
            <a:off x="7995684" y="1163354"/>
            <a:ext cx="3476847" cy="1558579"/>
          </a:xfrm>
          <a:prstGeom prst="rect">
            <a:avLst/>
          </a:prstGeom>
        </p:spPr>
      </p:pic>
    </p:spTree>
    <p:extLst>
      <p:ext uri="{BB962C8B-B14F-4D97-AF65-F5344CB8AC3E}">
        <p14:creationId xmlns:p14="http://schemas.microsoft.com/office/powerpoint/2010/main" val="1577334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2EBD55-49A5-403B-A1A7-3EFB65C83E89}"/>
              </a:ext>
            </a:extLst>
          </p:cNvPr>
          <p:cNvSpPr>
            <a:spLocks noGrp="1"/>
          </p:cNvSpPr>
          <p:nvPr>
            <p:ph type="body" idx="1"/>
          </p:nvPr>
        </p:nvSpPr>
        <p:spPr>
          <a:xfrm>
            <a:off x="434163" y="404037"/>
            <a:ext cx="7784804" cy="5730396"/>
          </a:xfrm>
        </p:spPr>
        <p:txBody>
          <a:bodyPr/>
          <a:lstStyle/>
          <a:p>
            <a:pPr marL="114300" indent="0">
              <a:buNone/>
            </a:pPr>
            <a:r>
              <a:rPr lang="en-US" b="1" dirty="0">
                <a:latin typeface="Times New Roman" panose="02020603050405020304" pitchFamily="18" charset="0"/>
                <a:cs typeface="Times New Roman" panose="02020603050405020304" pitchFamily="18" charset="0"/>
              </a:rPr>
              <a:t>4. How do order patterns vary across weekdays and weekends?</a:t>
            </a:r>
          </a:p>
          <a:p>
            <a:pPr marL="114300" indent="0">
              <a:buNone/>
            </a:pPr>
            <a:endParaRPr lang="en-US" b="1" dirty="0">
              <a:latin typeface="Times New Roman" panose="02020603050405020304" pitchFamily="18" charset="0"/>
              <a:cs typeface="Times New Roman" panose="02020603050405020304" pitchFamily="18" charset="0"/>
            </a:endParaRPr>
          </a:p>
          <a:p>
            <a:pPr marL="114300" indent="0">
              <a:buNone/>
            </a:pPr>
            <a:r>
              <a:rPr lang="en-US" sz="2000" dirty="0">
                <a:latin typeface="Times New Roman" panose="02020603050405020304" pitchFamily="18" charset="0"/>
                <a:cs typeface="Times New Roman" panose="02020603050405020304" pitchFamily="18" charset="0"/>
              </a:rPr>
              <a:t>SELECT </a:t>
            </a:r>
          </a:p>
          <a:p>
            <a:pPr marL="114300" indent="0">
              <a:buNone/>
            </a:pPr>
            <a:r>
              <a:rPr lang="en-US" sz="2000" dirty="0">
                <a:latin typeface="Times New Roman" panose="02020603050405020304" pitchFamily="18" charset="0"/>
                <a:cs typeface="Times New Roman" panose="02020603050405020304" pitchFamily="18" charset="0"/>
              </a:rPr>
              <a:t>    CASE </a:t>
            </a:r>
          </a:p>
          <a:p>
            <a:pPr marL="114300" indent="0">
              <a:buNone/>
            </a:pPr>
            <a:r>
              <a:rPr lang="en-US" sz="2000" dirty="0">
                <a:latin typeface="Times New Roman" panose="02020603050405020304" pitchFamily="18" charset="0"/>
                <a:cs typeface="Times New Roman" panose="02020603050405020304" pitchFamily="18" charset="0"/>
              </a:rPr>
              <a:t>        WHEN DAYOFWEEK(STR_TO_DATE(order_date,</a:t>
            </a:r>
          </a:p>
          <a:p>
            <a:pPr marL="114300" indent="0">
              <a:buNone/>
            </a:pPr>
            <a:r>
              <a:rPr lang="en-US" sz="2000" dirty="0">
                <a:latin typeface="Times New Roman" panose="02020603050405020304" pitchFamily="18" charset="0"/>
                <a:cs typeface="Times New Roman" panose="02020603050405020304" pitchFamily="18" charset="0"/>
              </a:rPr>
              <a:t>                           '%m/%d/%Y’))  IN (1, 7) </a:t>
            </a:r>
          </a:p>
          <a:p>
            <a:pPr marL="114300" indent="0">
              <a:buNone/>
            </a:pPr>
            <a:r>
              <a:rPr lang="en-US" sz="2000" dirty="0">
                <a:latin typeface="Times New Roman" panose="02020603050405020304" pitchFamily="18" charset="0"/>
                <a:cs typeface="Times New Roman" panose="02020603050405020304" pitchFamily="18" charset="0"/>
              </a:rPr>
              <a:t>             THEN 'Weekend'       </a:t>
            </a:r>
          </a:p>
          <a:p>
            <a:pPr marL="114300" indent="0">
              <a:buNone/>
            </a:pPr>
            <a:r>
              <a:rPr lang="en-US" sz="2000" dirty="0">
                <a:latin typeface="Times New Roman" panose="02020603050405020304" pitchFamily="18" charset="0"/>
                <a:cs typeface="Times New Roman" panose="02020603050405020304" pitchFamily="18" charset="0"/>
              </a:rPr>
              <a:t>         ELSE 'Weekday'    </a:t>
            </a:r>
          </a:p>
          <a:p>
            <a:pPr marL="114300" indent="0">
              <a:buNone/>
            </a:pPr>
            <a:r>
              <a:rPr lang="en-US" sz="2000" dirty="0">
                <a:latin typeface="Times New Roman" panose="02020603050405020304" pitchFamily="18" charset="0"/>
                <a:cs typeface="Times New Roman" panose="02020603050405020304" pitchFamily="18" charset="0"/>
              </a:rPr>
              <a:t>    END AS day_type,   </a:t>
            </a:r>
          </a:p>
          <a:p>
            <a:pPr marL="114300" indent="0">
              <a:buNone/>
            </a:pPr>
            <a:r>
              <a:rPr lang="en-US" sz="2000" dirty="0">
                <a:latin typeface="Times New Roman" panose="02020603050405020304" pitchFamily="18" charset="0"/>
                <a:cs typeface="Times New Roman" panose="02020603050405020304" pitchFamily="18" charset="0"/>
              </a:rPr>
              <a:t>    COUNT(DISTINCT ord_id) AS total_orders</a:t>
            </a:r>
          </a:p>
          <a:p>
            <a:pPr marL="114300" indent="0">
              <a:buNone/>
            </a:pPr>
            <a:r>
              <a:rPr lang="en-US" sz="2000" dirty="0">
                <a:latin typeface="Times New Roman" panose="02020603050405020304" pitchFamily="18" charset="0"/>
                <a:cs typeface="Times New Roman" panose="02020603050405020304" pitchFamily="18" charset="0"/>
              </a:rPr>
              <a:t>FROM orders</a:t>
            </a:r>
          </a:p>
          <a:p>
            <a:pPr marL="114300" indent="0">
              <a:buNone/>
            </a:pPr>
            <a:r>
              <a:rPr lang="en-US" sz="2000" dirty="0">
                <a:latin typeface="Times New Roman" panose="02020603050405020304" pitchFamily="18" charset="0"/>
                <a:cs typeface="Times New Roman" panose="02020603050405020304" pitchFamily="18" charset="0"/>
              </a:rPr>
              <a:t>GROUP BY day_type;</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03ACD1F-7D95-A3A2-F64D-277F3B4745A7}"/>
              </a:ext>
            </a:extLst>
          </p:cNvPr>
          <p:cNvPicPr>
            <a:picLocks noChangeAspect="1"/>
          </p:cNvPicPr>
          <p:nvPr/>
        </p:nvPicPr>
        <p:blipFill>
          <a:blip r:embed="rId2"/>
          <a:stretch>
            <a:fillRect/>
          </a:stretch>
        </p:blipFill>
        <p:spPr>
          <a:xfrm>
            <a:off x="7623544" y="1499191"/>
            <a:ext cx="3498111" cy="1254641"/>
          </a:xfrm>
          <a:prstGeom prst="rect">
            <a:avLst/>
          </a:prstGeom>
        </p:spPr>
      </p:pic>
    </p:spTree>
    <p:extLst>
      <p:ext uri="{BB962C8B-B14F-4D97-AF65-F5344CB8AC3E}">
        <p14:creationId xmlns:p14="http://schemas.microsoft.com/office/powerpoint/2010/main" val="243997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C483657-1114-9484-91F6-DBEC0DBA3C06}"/>
              </a:ext>
            </a:extLst>
          </p:cNvPr>
          <p:cNvSpPr>
            <a:spLocks noGrp="1"/>
          </p:cNvSpPr>
          <p:nvPr>
            <p:ph type="body" idx="1"/>
          </p:nvPr>
        </p:nvSpPr>
        <p:spPr>
          <a:xfrm>
            <a:off x="838199" y="340242"/>
            <a:ext cx="7402034" cy="5836721"/>
          </a:xfrm>
        </p:spPr>
        <p:txBody>
          <a:bodyPr>
            <a:normAutofit fontScale="25000" lnSpcReduction="20000"/>
          </a:bodyPr>
          <a:lstStyle/>
          <a:p>
            <a:pPr marL="114300" indent="0">
              <a:buNone/>
            </a:pPr>
            <a:r>
              <a:rPr lang="en-US" sz="8000" b="1" dirty="0">
                <a:latin typeface="Times New Roman" panose="02020603050405020304" pitchFamily="18" charset="0"/>
                <a:cs typeface="Times New Roman" panose="02020603050405020304" pitchFamily="18" charset="0"/>
              </a:rPr>
              <a:t>5.Which supplier provides the most products?</a:t>
            </a:r>
          </a:p>
          <a:p>
            <a:pPr marL="114300" indent="0">
              <a:buNone/>
            </a:pPr>
            <a:r>
              <a:rPr lang="en-US" sz="8000" dirty="0">
                <a:latin typeface="Times New Roman" panose="02020603050405020304" pitchFamily="18" charset="0"/>
                <a:cs typeface="Times New Roman" panose="02020603050405020304" pitchFamily="18" charset="0"/>
              </a:rPr>
              <a:t>SELECT </a:t>
            </a:r>
          </a:p>
          <a:p>
            <a:pPr marL="114300" indent="0">
              <a:buNone/>
            </a:pPr>
            <a:r>
              <a:rPr lang="en-US" sz="8000" dirty="0">
                <a:latin typeface="Times New Roman" panose="02020603050405020304" pitchFamily="18" charset="0"/>
                <a:cs typeface="Times New Roman" panose="02020603050405020304" pitchFamily="18" charset="0"/>
              </a:rPr>
              <a:t>        sup_id,    </a:t>
            </a:r>
          </a:p>
          <a:p>
            <a:pPr marL="114300" indent="0">
              <a:buNone/>
            </a:pPr>
            <a:r>
              <a:rPr lang="en-US" sz="8000" dirty="0">
                <a:latin typeface="Times New Roman" panose="02020603050405020304" pitchFamily="18" charset="0"/>
                <a:cs typeface="Times New Roman" panose="02020603050405020304" pitchFamily="18" charset="0"/>
              </a:rPr>
              <a:t>        sup_name,    </a:t>
            </a:r>
          </a:p>
          <a:p>
            <a:pPr marL="114300" indent="0">
              <a:buNone/>
            </a:pPr>
            <a:r>
              <a:rPr lang="en-US" sz="8000" dirty="0">
                <a:latin typeface="Times New Roman" panose="02020603050405020304" pitchFamily="18" charset="0"/>
                <a:cs typeface="Times New Roman" panose="02020603050405020304" pitchFamily="18" charset="0"/>
              </a:rPr>
              <a:t>        total_products</a:t>
            </a:r>
          </a:p>
          <a:p>
            <a:pPr marL="114300" indent="0">
              <a:buNone/>
            </a:pPr>
            <a:r>
              <a:rPr lang="en-US" sz="8000" dirty="0">
                <a:latin typeface="Times New Roman" panose="02020603050405020304" pitchFamily="18" charset="0"/>
                <a:cs typeface="Times New Roman" panose="02020603050405020304" pitchFamily="18" charset="0"/>
              </a:rPr>
              <a:t>FROM (</a:t>
            </a:r>
          </a:p>
          <a:p>
            <a:pPr marL="114300" indent="0">
              <a:buNone/>
            </a:pPr>
            <a:r>
              <a:rPr lang="en-US" sz="8000" dirty="0">
                <a:latin typeface="Times New Roman" panose="02020603050405020304" pitchFamily="18" charset="0"/>
                <a:cs typeface="Times New Roman" panose="02020603050405020304" pitchFamily="18" charset="0"/>
              </a:rPr>
              <a:t>    SELECT</a:t>
            </a:r>
          </a:p>
          <a:p>
            <a:pPr marL="114300" indent="0">
              <a:buNone/>
            </a:pPr>
            <a:r>
              <a:rPr lang="en-US" sz="8000" dirty="0">
                <a:latin typeface="Times New Roman" panose="02020603050405020304" pitchFamily="18" charset="0"/>
                <a:cs typeface="Times New Roman" panose="02020603050405020304" pitchFamily="18" charset="0"/>
              </a:rPr>
              <a:t>             s.sup_id, </a:t>
            </a:r>
          </a:p>
          <a:p>
            <a:pPr marL="114300" indent="0">
              <a:buNone/>
            </a:pPr>
            <a:r>
              <a:rPr lang="en-US" sz="8000" dirty="0">
                <a:latin typeface="Times New Roman" panose="02020603050405020304" pitchFamily="18" charset="0"/>
                <a:cs typeface="Times New Roman" panose="02020603050405020304" pitchFamily="18" charset="0"/>
              </a:rPr>
              <a:t>             s.sup_name,       </a:t>
            </a:r>
          </a:p>
          <a:p>
            <a:pPr marL="114300" indent="0">
              <a:buNone/>
            </a:pPr>
            <a:r>
              <a:rPr lang="en-US" sz="8000" dirty="0">
                <a:latin typeface="Times New Roman" panose="02020603050405020304" pitchFamily="18" charset="0"/>
                <a:cs typeface="Times New Roman" panose="02020603050405020304" pitchFamily="18" charset="0"/>
              </a:rPr>
              <a:t>             COUNT(p.prod_id) AS total_products,  </a:t>
            </a:r>
          </a:p>
          <a:p>
            <a:pPr marL="114300" indent="0">
              <a:buNone/>
            </a:pPr>
            <a:r>
              <a:rPr lang="en-US" sz="8000" dirty="0">
                <a:latin typeface="Times New Roman" panose="02020603050405020304" pitchFamily="18" charset="0"/>
                <a:cs typeface="Times New Roman" panose="02020603050405020304" pitchFamily="18" charset="0"/>
              </a:rPr>
              <a:t>             ROW_NUMBER() OVER (           </a:t>
            </a:r>
          </a:p>
          <a:p>
            <a:pPr marL="114300" indent="0">
              <a:buNone/>
            </a:pPr>
            <a:r>
              <a:rPr lang="en-US" sz="8000" dirty="0">
                <a:latin typeface="Times New Roman" panose="02020603050405020304" pitchFamily="18" charset="0"/>
                <a:cs typeface="Times New Roman" panose="02020603050405020304" pitchFamily="18" charset="0"/>
              </a:rPr>
              <a:t>                    ORDER BY COUNT(p.prod_id) DESC) AS supplier_rank    </a:t>
            </a:r>
          </a:p>
          <a:p>
            <a:pPr marL="114300" indent="0">
              <a:buNone/>
            </a:pPr>
            <a:r>
              <a:rPr lang="en-US" sz="8000" dirty="0">
                <a:latin typeface="Times New Roman" panose="02020603050405020304" pitchFamily="18" charset="0"/>
                <a:cs typeface="Times New Roman" panose="02020603050405020304" pitchFamily="18" charset="0"/>
              </a:rPr>
              <a:t>   FROM suppliers AS s  </a:t>
            </a:r>
          </a:p>
          <a:p>
            <a:pPr marL="114300" indent="0">
              <a:buNone/>
            </a:pPr>
            <a:r>
              <a:rPr lang="en-US" sz="8000" dirty="0">
                <a:latin typeface="Times New Roman" panose="02020603050405020304" pitchFamily="18" charset="0"/>
                <a:cs typeface="Times New Roman" panose="02020603050405020304" pitchFamily="18" charset="0"/>
              </a:rPr>
              <a:t>   JOIN products AS p  </a:t>
            </a:r>
          </a:p>
          <a:p>
            <a:pPr marL="114300" indent="0">
              <a:buNone/>
            </a:pPr>
            <a:r>
              <a:rPr lang="en-US" sz="8000" dirty="0">
                <a:latin typeface="Times New Roman" panose="02020603050405020304" pitchFamily="18" charset="0"/>
                <a:cs typeface="Times New Roman" panose="02020603050405020304" pitchFamily="18" charset="0"/>
              </a:rPr>
              <a:t>         ON s.sup_id = p.sup_id    </a:t>
            </a:r>
          </a:p>
          <a:p>
            <a:pPr marL="114300" indent="0">
              <a:buNone/>
            </a:pPr>
            <a:r>
              <a:rPr lang="en-US" sz="8000" dirty="0">
                <a:latin typeface="Times New Roman" panose="02020603050405020304" pitchFamily="18" charset="0"/>
                <a:cs typeface="Times New Roman" panose="02020603050405020304" pitchFamily="18" charset="0"/>
              </a:rPr>
              <a:t>  GROUP BY s.sup_id, s.sup_name) </a:t>
            </a:r>
          </a:p>
          <a:p>
            <a:pPr marL="114300" indent="0">
              <a:buNone/>
            </a:pPr>
            <a:r>
              <a:rPr lang="en-US" sz="8000" dirty="0">
                <a:latin typeface="Times New Roman" panose="02020603050405020304" pitchFamily="18" charset="0"/>
                <a:cs typeface="Times New Roman" panose="02020603050405020304" pitchFamily="18" charset="0"/>
              </a:rPr>
              <a:t>AS supplier_ranking</a:t>
            </a:r>
          </a:p>
          <a:p>
            <a:pPr marL="114300" indent="0">
              <a:buNone/>
            </a:pPr>
            <a:r>
              <a:rPr lang="en-US" sz="8000" dirty="0">
                <a:latin typeface="Times New Roman" panose="02020603050405020304" pitchFamily="18" charset="0"/>
                <a:cs typeface="Times New Roman" panose="02020603050405020304" pitchFamily="18" charset="0"/>
              </a:rPr>
              <a:t>WHERE supplier_rank = 1;</a:t>
            </a:r>
            <a:endParaRPr lang="en-IN" sz="8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801EEF-3C5A-ADE1-9101-593F732AEF17}"/>
              </a:ext>
            </a:extLst>
          </p:cNvPr>
          <p:cNvPicPr>
            <a:picLocks noChangeAspect="1"/>
          </p:cNvPicPr>
          <p:nvPr/>
        </p:nvPicPr>
        <p:blipFill>
          <a:blip r:embed="rId2"/>
          <a:stretch>
            <a:fillRect/>
          </a:stretch>
        </p:blipFill>
        <p:spPr>
          <a:xfrm>
            <a:off x="7949249" y="1456660"/>
            <a:ext cx="3682769" cy="1212111"/>
          </a:xfrm>
          <a:prstGeom prst="rect">
            <a:avLst/>
          </a:prstGeom>
        </p:spPr>
      </p:pic>
    </p:spTree>
    <p:extLst>
      <p:ext uri="{BB962C8B-B14F-4D97-AF65-F5344CB8AC3E}">
        <p14:creationId xmlns:p14="http://schemas.microsoft.com/office/powerpoint/2010/main" val="210625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3B53D6A-AD10-CEC7-543C-FBBD1D311918}"/>
              </a:ext>
            </a:extLst>
          </p:cNvPr>
          <p:cNvSpPr>
            <a:spLocks noGrp="1"/>
          </p:cNvSpPr>
          <p:nvPr>
            <p:ph type="body" idx="1"/>
          </p:nvPr>
        </p:nvSpPr>
        <p:spPr>
          <a:xfrm>
            <a:off x="436880" y="314960"/>
            <a:ext cx="6782627" cy="5862003"/>
          </a:xfrm>
        </p:spPr>
        <p:txBody>
          <a:bodyPr>
            <a:normAutofit/>
          </a:bodyPr>
          <a:lstStyle/>
          <a:p>
            <a:pPr marL="114300" indent="0">
              <a:buNone/>
            </a:pPr>
            <a:r>
              <a:rPr lang="en-US" b="1" dirty="0">
                <a:latin typeface="Times New Roman" panose="02020603050405020304" pitchFamily="18" charset="0"/>
                <a:cs typeface="Times New Roman" panose="02020603050405020304" pitchFamily="18" charset="0"/>
              </a:rPr>
              <a:t>6.Which suppliers contribute the most to total product sales </a:t>
            </a:r>
          </a:p>
          <a:p>
            <a:pPr marL="114300" indent="0">
              <a:buNone/>
            </a:pPr>
            <a:r>
              <a:rPr lang="en-US" b="1" dirty="0">
                <a:latin typeface="Times New Roman" panose="02020603050405020304" pitchFamily="18" charset="0"/>
                <a:cs typeface="Times New Roman" panose="02020603050405020304" pitchFamily="18" charset="0"/>
              </a:rPr>
              <a:t>(by revenue)?</a:t>
            </a:r>
          </a:p>
          <a:p>
            <a:pPr marL="114300" indent="0">
              <a:buNone/>
            </a:pPr>
            <a:endParaRPr lang="en-US"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137EBEB-D54C-B483-7BB3-1566F053DCB8}"/>
              </a:ext>
            </a:extLst>
          </p:cNvPr>
          <p:cNvPicPr>
            <a:picLocks noChangeAspect="1"/>
          </p:cNvPicPr>
          <p:nvPr/>
        </p:nvPicPr>
        <p:blipFill>
          <a:blip r:embed="rId3"/>
          <a:stretch>
            <a:fillRect/>
          </a:stretch>
        </p:blipFill>
        <p:spPr>
          <a:xfrm>
            <a:off x="8286649" y="621323"/>
            <a:ext cx="3468471" cy="1617246"/>
          </a:xfrm>
          <a:prstGeom prst="rect">
            <a:avLst/>
          </a:prstGeom>
        </p:spPr>
      </p:pic>
      <p:sp>
        <p:nvSpPr>
          <p:cNvPr id="9" name="TextBox 8">
            <a:extLst>
              <a:ext uri="{FF2B5EF4-FFF2-40B4-BE49-F238E27FC236}">
                <a16:creationId xmlns:a16="http://schemas.microsoft.com/office/drawing/2014/main" id="{0BF5C7CA-DB5B-E224-43B6-E6AF0790A576}"/>
              </a:ext>
            </a:extLst>
          </p:cNvPr>
          <p:cNvSpPr txBox="1"/>
          <p:nvPr/>
        </p:nvSpPr>
        <p:spPr>
          <a:xfrm>
            <a:off x="627793" y="1985390"/>
            <a:ext cx="6019192" cy="4708981"/>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DELIMITER //</a:t>
            </a:r>
          </a:p>
          <a:p>
            <a:r>
              <a:rPr lang="en-IN" sz="2000" dirty="0">
                <a:latin typeface="Times New Roman" panose="02020603050405020304" pitchFamily="18" charset="0"/>
                <a:cs typeface="Times New Roman" panose="02020603050405020304" pitchFamily="18" charset="0"/>
              </a:rPr>
              <a:t>CREATE PROCEDURE GetSupplierRevenue()</a:t>
            </a:r>
          </a:p>
          <a:p>
            <a:r>
              <a:rPr lang="en-IN" sz="2000" dirty="0">
                <a:latin typeface="Times New Roman" panose="02020603050405020304" pitchFamily="18" charset="0"/>
                <a:cs typeface="Times New Roman" panose="02020603050405020304" pitchFamily="18" charset="0"/>
              </a:rPr>
              <a:t>BEGIN</a:t>
            </a:r>
          </a:p>
          <a:p>
            <a:r>
              <a:rPr lang="en-IN" sz="2000" dirty="0">
                <a:latin typeface="Times New Roman" panose="02020603050405020304" pitchFamily="18" charset="0"/>
                <a:cs typeface="Times New Roman" panose="02020603050405020304" pitchFamily="18" charset="0"/>
              </a:rPr>
              <a:t>  SELECT s.sup_id,s.sup_name,SUM(od.total_price) AS </a:t>
            </a:r>
          </a:p>
          <a:p>
            <a:r>
              <a:rPr lang="en-IN" sz="2000" dirty="0">
                <a:latin typeface="Times New Roman" panose="02020603050405020304" pitchFamily="18" charset="0"/>
                <a:cs typeface="Times New Roman" panose="02020603050405020304" pitchFamily="18" charset="0"/>
              </a:rPr>
              <a:t>    total_revenue</a:t>
            </a:r>
          </a:p>
          <a:p>
            <a:r>
              <a:rPr lang="en-IN" sz="2000" dirty="0">
                <a:latin typeface="Times New Roman" panose="02020603050405020304" pitchFamily="18" charset="0"/>
                <a:cs typeface="Times New Roman" panose="02020603050405020304" pitchFamily="18" charset="0"/>
              </a:rPr>
              <a:t> FROM suppliers AS s</a:t>
            </a:r>
          </a:p>
          <a:p>
            <a:r>
              <a:rPr lang="en-IN" sz="2000" dirty="0">
                <a:latin typeface="Times New Roman" panose="02020603050405020304" pitchFamily="18" charset="0"/>
                <a:cs typeface="Times New Roman" panose="02020603050405020304" pitchFamily="18" charset="0"/>
              </a:rPr>
              <a:t> JOIN products AS p </a:t>
            </a:r>
          </a:p>
          <a:p>
            <a:r>
              <a:rPr lang="en-IN" sz="2000" dirty="0">
                <a:latin typeface="Times New Roman" panose="02020603050405020304" pitchFamily="18" charset="0"/>
                <a:cs typeface="Times New Roman" panose="02020603050405020304" pitchFamily="18" charset="0"/>
              </a:rPr>
              <a:t>    ON s.sup_id = p.sup_id</a:t>
            </a:r>
          </a:p>
          <a:p>
            <a:r>
              <a:rPr lang="en-IN" sz="2000" dirty="0">
                <a:latin typeface="Times New Roman" panose="02020603050405020304" pitchFamily="18" charset="0"/>
                <a:cs typeface="Times New Roman" panose="02020603050405020304" pitchFamily="18" charset="0"/>
              </a:rPr>
              <a:t> JOIN orderdetails AS od</a:t>
            </a:r>
          </a:p>
          <a:p>
            <a:r>
              <a:rPr lang="en-IN" sz="2000" dirty="0">
                <a:latin typeface="Times New Roman" panose="02020603050405020304" pitchFamily="18" charset="0"/>
                <a:cs typeface="Times New Roman" panose="02020603050405020304" pitchFamily="18" charset="0"/>
              </a:rPr>
              <a:t>    ON p.prod_id = od.prod_id</a:t>
            </a:r>
          </a:p>
          <a:p>
            <a:r>
              <a:rPr lang="en-IN" sz="2000" dirty="0">
                <a:latin typeface="Times New Roman" panose="02020603050405020304" pitchFamily="18" charset="0"/>
                <a:cs typeface="Times New Roman" panose="02020603050405020304" pitchFamily="18" charset="0"/>
              </a:rPr>
              <a:t> GROUP BY s.sup_id, s.sup_name</a:t>
            </a:r>
          </a:p>
          <a:p>
            <a:r>
              <a:rPr lang="en-IN" sz="2000" dirty="0">
                <a:latin typeface="Times New Roman" panose="02020603050405020304" pitchFamily="18" charset="0"/>
                <a:cs typeface="Times New Roman" panose="02020603050405020304" pitchFamily="18" charset="0"/>
              </a:rPr>
              <a:t> ORDER BY total_revenue DESC;</a:t>
            </a:r>
          </a:p>
          <a:p>
            <a:r>
              <a:rPr lang="en-IN" sz="2000" dirty="0">
                <a:latin typeface="Times New Roman" panose="02020603050405020304" pitchFamily="18" charset="0"/>
                <a:cs typeface="Times New Roman" panose="02020603050405020304" pitchFamily="18" charset="0"/>
              </a:rPr>
              <a:t>END //</a:t>
            </a:r>
          </a:p>
          <a:p>
            <a:r>
              <a:rPr lang="en-IN" sz="2000" dirty="0">
                <a:latin typeface="Times New Roman" panose="02020603050405020304" pitchFamily="18" charset="0"/>
                <a:cs typeface="Times New Roman" panose="02020603050405020304" pitchFamily="18" charset="0"/>
              </a:rPr>
              <a:t>DELIMITER ;</a:t>
            </a:r>
          </a:p>
          <a:p>
            <a:r>
              <a:rPr lang="en-IN" sz="2000" dirty="0">
                <a:latin typeface="Times New Roman" panose="02020603050405020304" pitchFamily="18" charset="0"/>
                <a:cs typeface="Times New Roman" panose="02020603050405020304" pitchFamily="18" charset="0"/>
              </a:rPr>
              <a:t>CALL GetSupplierRevenue();</a:t>
            </a:r>
          </a:p>
        </p:txBody>
      </p:sp>
    </p:spTree>
    <p:extLst>
      <p:ext uri="{BB962C8B-B14F-4D97-AF65-F5344CB8AC3E}">
        <p14:creationId xmlns:p14="http://schemas.microsoft.com/office/powerpoint/2010/main" val="825658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037769F-00D5-B21A-864D-10AB763E2DCD}"/>
              </a:ext>
            </a:extLst>
          </p:cNvPr>
          <p:cNvSpPr>
            <a:spLocks noGrp="1"/>
          </p:cNvSpPr>
          <p:nvPr>
            <p:ph type="body" idx="1"/>
          </p:nvPr>
        </p:nvSpPr>
        <p:spPr>
          <a:xfrm>
            <a:off x="838199" y="414670"/>
            <a:ext cx="6360043" cy="5762293"/>
          </a:xfrm>
        </p:spPr>
        <p:txBody>
          <a:bodyPr>
            <a:normAutofit/>
          </a:bodyPr>
          <a:lstStyle/>
          <a:p>
            <a:pPr marL="114300" indent="0">
              <a:buNone/>
            </a:pPr>
            <a:r>
              <a:rPr lang="en-US" b="1" dirty="0">
                <a:latin typeface="Times New Roman" panose="02020603050405020304" pitchFamily="18" charset="0"/>
                <a:cs typeface="Times New Roman" panose="02020603050405020304" pitchFamily="18" charset="0"/>
              </a:rPr>
              <a:t>7. What is the total sales value processed by each employee</a:t>
            </a:r>
            <a:r>
              <a:rPr lang="en-US" dirty="0">
                <a:latin typeface="Times New Roman" panose="02020603050405020304" pitchFamily="18" charset="0"/>
                <a:cs typeface="Times New Roman" panose="02020603050405020304" pitchFamily="18" charset="0"/>
              </a:rPr>
              <a:t>?</a:t>
            </a: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r>
              <a:rPr lang="en-US" sz="2000" dirty="0">
                <a:latin typeface="Times New Roman" panose="02020603050405020304" pitchFamily="18" charset="0"/>
                <a:cs typeface="Times New Roman" panose="02020603050405020304" pitchFamily="18" charset="0"/>
              </a:rPr>
              <a:t>SELECT DISTINCT </a:t>
            </a:r>
          </a:p>
          <a:p>
            <a:pPr marL="114300" indent="0">
              <a:buNone/>
            </a:pPr>
            <a:r>
              <a:rPr lang="en-US" sz="2000" dirty="0">
                <a:latin typeface="Times New Roman" panose="02020603050405020304" pitchFamily="18" charset="0"/>
                <a:cs typeface="Times New Roman" panose="02020603050405020304" pitchFamily="18" charset="0"/>
              </a:rPr>
              <a:t>           se.emp_id, </a:t>
            </a:r>
          </a:p>
          <a:p>
            <a:pPr marL="114300" indent="0">
              <a:buNone/>
            </a:pPr>
            <a:r>
              <a:rPr lang="en-US" sz="2000" dirty="0">
                <a:latin typeface="Times New Roman" panose="02020603050405020304" pitchFamily="18" charset="0"/>
                <a:cs typeface="Times New Roman" panose="02020603050405020304" pitchFamily="18" charset="0"/>
              </a:rPr>
              <a:t>           se.emp_name,   </a:t>
            </a:r>
          </a:p>
          <a:p>
            <a:pPr marL="114300" indent="0">
              <a:buNone/>
            </a:pPr>
            <a:r>
              <a:rPr lang="en-US" sz="2000" dirty="0">
                <a:latin typeface="Times New Roman" panose="02020603050405020304" pitchFamily="18" charset="0"/>
                <a:cs typeface="Times New Roman" panose="02020603050405020304" pitchFamily="18" charset="0"/>
              </a:rPr>
              <a:t>          SUM(od.total_price) OVER  (PARTITION BY  </a:t>
            </a:r>
          </a:p>
          <a:p>
            <a:pPr marL="114300" indent="0">
              <a:buNone/>
            </a:pPr>
            <a:r>
              <a:rPr lang="en-US" sz="2000" dirty="0">
                <a:latin typeface="Times New Roman" panose="02020603050405020304" pitchFamily="18" charset="0"/>
                <a:cs typeface="Times New Roman" panose="02020603050405020304" pitchFamily="18" charset="0"/>
              </a:rPr>
              <a:t>          se.emp_id) AS total_sales_value</a:t>
            </a:r>
          </a:p>
          <a:p>
            <a:pPr marL="114300" indent="0">
              <a:buNone/>
            </a:pPr>
            <a:r>
              <a:rPr lang="en-US" sz="2000" dirty="0">
                <a:latin typeface="Times New Roman" panose="02020603050405020304" pitchFamily="18" charset="0"/>
                <a:cs typeface="Times New Roman" panose="02020603050405020304" pitchFamily="18" charset="0"/>
              </a:rPr>
              <a:t>FROM storeemployees AS se</a:t>
            </a:r>
          </a:p>
          <a:p>
            <a:pPr marL="114300" indent="0">
              <a:buNone/>
            </a:pPr>
            <a:r>
              <a:rPr lang="en-US" sz="2000" dirty="0">
                <a:latin typeface="Times New Roman" panose="02020603050405020304" pitchFamily="18" charset="0"/>
                <a:cs typeface="Times New Roman" panose="02020603050405020304" pitchFamily="18" charset="0"/>
              </a:rPr>
              <a:t>JOIN orders AS o   </a:t>
            </a:r>
          </a:p>
          <a:p>
            <a:pPr marL="114300" indent="0">
              <a:buNone/>
            </a:pPr>
            <a:r>
              <a:rPr lang="en-US" sz="2000" dirty="0">
                <a:latin typeface="Times New Roman" panose="02020603050405020304" pitchFamily="18" charset="0"/>
                <a:cs typeface="Times New Roman" panose="02020603050405020304" pitchFamily="18" charset="0"/>
              </a:rPr>
              <a:t>   ON se.emp_id = o.emp_id</a:t>
            </a:r>
          </a:p>
          <a:p>
            <a:pPr marL="114300" indent="0">
              <a:buNone/>
            </a:pPr>
            <a:r>
              <a:rPr lang="en-US" sz="2000" dirty="0">
                <a:latin typeface="Times New Roman" panose="02020603050405020304" pitchFamily="18" charset="0"/>
                <a:cs typeface="Times New Roman" panose="02020603050405020304" pitchFamily="18" charset="0"/>
              </a:rPr>
              <a:t>JOIN orderdetails AS od   </a:t>
            </a:r>
          </a:p>
          <a:p>
            <a:pPr marL="114300" indent="0">
              <a:buNone/>
            </a:pPr>
            <a:r>
              <a:rPr lang="en-US" sz="2000" dirty="0">
                <a:latin typeface="Times New Roman" panose="02020603050405020304" pitchFamily="18" charset="0"/>
                <a:cs typeface="Times New Roman" panose="02020603050405020304" pitchFamily="18" charset="0"/>
              </a:rPr>
              <a:t>   ON o.ord_id = od.ord_id;</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FBF4CC3-D6C2-6D51-B3F8-1D03D57DAD5F}"/>
              </a:ext>
            </a:extLst>
          </p:cNvPr>
          <p:cNvPicPr>
            <a:picLocks noChangeAspect="1"/>
          </p:cNvPicPr>
          <p:nvPr/>
        </p:nvPicPr>
        <p:blipFill>
          <a:blip r:embed="rId2"/>
          <a:stretch>
            <a:fillRect/>
          </a:stretch>
        </p:blipFill>
        <p:spPr>
          <a:xfrm>
            <a:off x="7198242" y="776177"/>
            <a:ext cx="4155558" cy="3009013"/>
          </a:xfrm>
          <a:prstGeom prst="rect">
            <a:avLst/>
          </a:prstGeom>
        </p:spPr>
      </p:pic>
    </p:spTree>
    <p:extLst>
      <p:ext uri="{BB962C8B-B14F-4D97-AF65-F5344CB8AC3E}">
        <p14:creationId xmlns:p14="http://schemas.microsoft.com/office/powerpoint/2010/main" val="304538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317F729-37F8-B011-83C5-D5468F8A0CD1}"/>
              </a:ext>
            </a:extLst>
          </p:cNvPr>
          <p:cNvSpPr>
            <a:spLocks noGrp="1"/>
          </p:cNvSpPr>
          <p:nvPr>
            <p:ph type="body" idx="1"/>
          </p:nvPr>
        </p:nvSpPr>
        <p:spPr>
          <a:xfrm>
            <a:off x="838199" y="318977"/>
            <a:ext cx="6405705" cy="5857986"/>
          </a:xfrm>
        </p:spPr>
        <p:txBody>
          <a:bodyPr>
            <a:normAutofit fontScale="92500"/>
          </a:bodyPr>
          <a:lstStyle/>
          <a:p>
            <a:pPr marL="114300" indent="0">
              <a:buNone/>
            </a:pPr>
            <a:r>
              <a:rPr lang="en-US" b="1" dirty="0">
                <a:latin typeface="Times New Roman" panose="02020603050405020304" pitchFamily="18" charset="0"/>
                <a:cs typeface="Times New Roman" panose="02020603050405020304" pitchFamily="18" charset="0"/>
              </a:rPr>
              <a:t>8. What is the relationship between quantity ordered and total price?</a:t>
            </a:r>
          </a:p>
          <a:p>
            <a:pPr marL="114300" indent="0">
              <a:buNone/>
            </a:pPr>
            <a:endParaRPr lang="en-US" b="1" dirty="0">
              <a:latin typeface="Times New Roman" panose="02020603050405020304" pitchFamily="18" charset="0"/>
              <a:cs typeface="Times New Roman" panose="02020603050405020304" pitchFamily="18" charset="0"/>
            </a:endParaRPr>
          </a:p>
          <a:p>
            <a:pPr marL="114300" indent="0">
              <a:buNone/>
            </a:pPr>
            <a:r>
              <a:rPr lang="en-US" sz="2200" dirty="0">
                <a:latin typeface="Times New Roman" panose="02020603050405020304" pitchFamily="18" charset="0"/>
                <a:cs typeface="Times New Roman" panose="02020603050405020304" pitchFamily="18" charset="0"/>
              </a:rPr>
              <a:t>SELECT  </a:t>
            </a:r>
          </a:p>
          <a:p>
            <a:pPr marL="114300" indent="0">
              <a:buNone/>
            </a:pPr>
            <a:r>
              <a:rPr lang="en-US" sz="2200" dirty="0">
                <a:latin typeface="Times New Roman" panose="02020603050405020304" pitchFamily="18" charset="0"/>
                <a:cs typeface="Times New Roman" panose="02020603050405020304" pitchFamily="18" charset="0"/>
              </a:rPr>
              <a:t>     prod_id,</a:t>
            </a:r>
          </a:p>
          <a:p>
            <a:pPr marL="114300" indent="0">
              <a:buNone/>
            </a:pPr>
            <a:r>
              <a:rPr lang="en-US" sz="2200" dirty="0">
                <a:latin typeface="Times New Roman" panose="02020603050405020304" pitchFamily="18" charset="0"/>
                <a:cs typeface="Times New Roman" panose="02020603050405020304" pitchFamily="18" charset="0"/>
              </a:rPr>
              <a:t>     SUM(quantity) AS total_quantity, </a:t>
            </a:r>
          </a:p>
          <a:p>
            <a:pPr marL="114300" indent="0">
              <a:buNone/>
            </a:pPr>
            <a:r>
              <a:rPr lang="en-US" sz="2200" dirty="0">
                <a:latin typeface="Times New Roman" panose="02020603050405020304" pitchFamily="18" charset="0"/>
                <a:cs typeface="Times New Roman" panose="02020603050405020304" pitchFamily="18" charset="0"/>
              </a:rPr>
              <a:t>     SUM(total_price) AS total_price, </a:t>
            </a:r>
          </a:p>
          <a:p>
            <a:pPr marL="114300" indent="0">
              <a:buNone/>
            </a:pPr>
            <a:r>
              <a:rPr lang="en-US" sz="2200" dirty="0">
                <a:latin typeface="Times New Roman" panose="02020603050405020304" pitchFamily="18" charset="0"/>
                <a:cs typeface="Times New Roman" panose="02020603050405020304" pitchFamily="18" charset="0"/>
              </a:rPr>
              <a:t>   CASE</a:t>
            </a:r>
          </a:p>
          <a:p>
            <a:pPr marL="114300" indent="0">
              <a:buNone/>
            </a:pPr>
            <a:r>
              <a:rPr lang="en-US" sz="2200" dirty="0">
                <a:latin typeface="Times New Roman" panose="02020603050405020304" pitchFamily="18" charset="0"/>
                <a:cs typeface="Times New Roman" panose="02020603050405020304" pitchFamily="18" charset="0"/>
              </a:rPr>
              <a:t>         WHEN SUM(quantity) &gt; 0</a:t>
            </a:r>
          </a:p>
          <a:p>
            <a:pPr marL="114300" indent="0">
              <a:buNone/>
            </a:pPr>
            <a:r>
              <a:rPr lang="en-US" sz="2200" dirty="0">
                <a:latin typeface="Times New Roman" panose="02020603050405020304" pitchFamily="18" charset="0"/>
                <a:cs typeface="Times New Roman" panose="02020603050405020304" pitchFamily="18" charset="0"/>
              </a:rPr>
              <a:t>         THEN ROUND(SUM(total_price) /SUM(quantity),2)       </a:t>
            </a:r>
          </a:p>
          <a:p>
            <a:pPr marL="114300" indent="0">
              <a:buNone/>
            </a:pPr>
            <a:r>
              <a:rPr lang="en-US" sz="2200" dirty="0">
                <a:latin typeface="Times New Roman" panose="02020603050405020304" pitchFamily="18" charset="0"/>
                <a:cs typeface="Times New Roman" panose="02020603050405020304" pitchFamily="18" charset="0"/>
              </a:rPr>
              <a:t>          ELSE 0    </a:t>
            </a:r>
          </a:p>
          <a:p>
            <a:pPr marL="114300" indent="0">
              <a:buNone/>
            </a:pPr>
            <a:r>
              <a:rPr lang="en-US" sz="2200" dirty="0">
                <a:latin typeface="Times New Roman" panose="02020603050405020304" pitchFamily="18" charset="0"/>
                <a:cs typeface="Times New Roman" panose="02020603050405020304" pitchFamily="18" charset="0"/>
              </a:rPr>
              <a:t>    END AS average_price_per_unit</a:t>
            </a:r>
          </a:p>
          <a:p>
            <a:pPr marL="114300" indent="0">
              <a:buNone/>
            </a:pPr>
            <a:r>
              <a:rPr lang="en-US" sz="2200" dirty="0">
                <a:latin typeface="Times New Roman" panose="02020603050405020304" pitchFamily="18" charset="0"/>
                <a:cs typeface="Times New Roman" panose="02020603050405020304" pitchFamily="18" charset="0"/>
              </a:rPr>
              <a:t>FROM orderdetails</a:t>
            </a:r>
          </a:p>
          <a:p>
            <a:pPr marL="114300" indent="0">
              <a:buNone/>
            </a:pPr>
            <a:r>
              <a:rPr lang="en-US" sz="2200" dirty="0">
                <a:latin typeface="Times New Roman" panose="02020603050405020304" pitchFamily="18" charset="0"/>
                <a:cs typeface="Times New Roman" panose="02020603050405020304" pitchFamily="18" charset="0"/>
              </a:rPr>
              <a:t>GROUP BY prod_id;</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F5EA0E8-3CD0-1DF7-6D0C-1198C42F89B7}"/>
              </a:ext>
            </a:extLst>
          </p:cNvPr>
          <p:cNvPicPr>
            <a:picLocks noChangeAspect="1"/>
          </p:cNvPicPr>
          <p:nvPr/>
        </p:nvPicPr>
        <p:blipFill>
          <a:blip r:embed="rId2"/>
          <a:stretch>
            <a:fillRect/>
          </a:stretch>
        </p:blipFill>
        <p:spPr>
          <a:xfrm>
            <a:off x="7530984" y="1297172"/>
            <a:ext cx="3686365" cy="3104705"/>
          </a:xfrm>
          <a:prstGeom prst="rect">
            <a:avLst/>
          </a:prstGeom>
        </p:spPr>
      </p:pic>
    </p:spTree>
    <p:extLst>
      <p:ext uri="{BB962C8B-B14F-4D97-AF65-F5344CB8AC3E}">
        <p14:creationId xmlns:p14="http://schemas.microsoft.com/office/powerpoint/2010/main" val="1383880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1271C-AB81-7D2A-229E-80E8DDE93BDC}"/>
              </a:ext>
            </a:extLst>
          </p:cNvPr>
          <p:cNvSpPr>
            <a:spLocks noGrp="1"/>
          </p:cNvSpPr>
          <p:nvPr>
            <p:ph type="title"/>
          </p:nvPr>
        </p:nvSpPr>
        <p:spPr>
          <a:xfrm>
            <a:off x="689343" y="-166614"/>
            <a:ext cx="10515600" cy="1325563"/>
          </a:xfrm>
        </p:spPr>
        <p:txBody>
          <a:bodyPr/>
          <a:lstStyle/>
          <a:p>
            <a:r>
              <a:rPr lang="en-US" b="1" dirty="0">
                <a:solidFill>
                  <a:srgbClr val="FF0000"/>
                </a:solidFill>
              </a:rPr>
              <a:t>INSIGHTS</a:t>
            </a:r>
            <a:endParaRPr lang="en-IN" b="1" dirty="0">
              <a:solidFill>
                <a:srgbClr val="FF0000"/>
              </a:solidFill>
            </a:endParaRPr>
          </a:p>
        </p:txBody>
      </p:sp>
      <p:sp>
        <p:nvSpPr>
          <p:cNvPr id="3" name="Text Placeholder 2">
            <a:extLst>
              <a:ext uri="{FF2B5EF4-FFF2-40B4-BE49-F238E27FC236}">
                <a16:creationId xmlns:a16="http://schemas.microsoft.com/office/drawing/2014/main" id="{C8C476D7-B1B0-A3C0-3033-9D05FD76BC6F}"/>
              </a:ext>
            </a:extLst>
          </p:cNvPr>
          <p:cNvSpPr>
            <a:spLocks noGrp="1"/>
          </p:cNvSpPr>
          <p:nvPr>
            <p:ph type="body" idx="1"/>
          </p:nvPr>
        </p:nvSpPr>
        <p:spPr>
          <a:xfrm>
            <a:off x="689343" y="839972"/>
            <a:ext cx="11017103" cy="4667693"/>
          </a:xfrm>
        </p:spPr>
        <p:txBody>
          <a:bodyPr>
            <a:normAutofit lnSpcReduction="10000"/>
          </a:bodyPr>
          <a:lstStyle/>
          <a:p>
            <a:pPr marL="114300" lvl="0" indent="0">
              <a:buNone/>
            </a:pPr>
            <a:r>
              <a:rPr lang="en-IN" dirty="0"/>
              <a:t>. </a:t>
            </a:r>
            <a:r>
              <a:rPr lang="en-IN" dirty="0">
                <a:latin typeface="Times New Roman" panose="02020603050405020304" pitchFamily="18" charset="0"/>
                <a:cs typeface="Times New Roman" panose="02020603050405020304" pitchFamily="18" charset="0"/>
              </a:rPr>
              <a:t>Top Products: Identified the products generating the highest revenue. </a:t>
            </a:r>
          </a:p>
          <a:p>
            <a:pPr lvl="0"/>
            <a:r>
              <a:rPr lang="en-IN" dirty="0">
                <a:latin typeface="Times New Roman" panose="02020603050405020304" pitchFamily="18" charset="0"/>
                <a:cs typeface="Times New Roman" panose="02020603050405020304" pitchFamily="18" charset="0"/>
              </a:rPr>
              <a:t>Best Categories: Determined which product categories contribute most to sales. </a:t>
            </a:r>
          </a:p>
          <a:p>
            <a:pPr lvl="0"/>
            <a:r>
              <a:rPr lang="en-IN" dirty="0">
                <a:latin typeface="Times New Roman" panose="02020603050405020304" pitchFamily="18" charset="0"/>
                <a:cs typeface="Times New Roman" panose="02020603050405020304" pitchFamily="18" charset="0"/>
              </a:rPr>
              <a:t>Customer Spending: Identified customers with the highest purchase amounts. </a:t>
            </a:r>
          </a:p>
          <a:p>
            <a:pPr lvl="0"/>
            <a:r>
              <a:rPr lang="en-IN" dirty="0">
                <a:latin typeface="Times New Roman" panose="02020603050405020304" pitchFamily="18" charset="0"/>
                <a:cs typeface="Times New Roman" panose="02020603050405020304" pitchFamily="18" charset="0"/>
              </a:rPr>
              <a:t>Order Patterns: Observed trends in order volume and purchasing activity. </a:t>
            </a:r>
          </a:p>
          <a:p>
            <a:pPr lvl="0"/>
            <a:r>
              <a:rPr lang="en-IN" dirty="0">
                <a:latin typeface="Times New Roman" panose="02020603050405020304" pitchFamily="18" charset="0"/>
                <a:cs typeface="Times New Roman" panose="02020603050405020304" pitchFamily="18" charset="0"/>
              </a:rPr>
              <a:t>Supplier Contribution: Identified suppliers providing the highest number of products. </a:t>
            </a:r>
          </a:p>
          <a:p>
            <a:pPr lvl="0"/>
            <a:r>
              <a:rPr lang="en-IN" dirty="0">
                <a:latin typeface="Times New Roman" panose="02020603050405020304" pitchFamily="18" charset="0"/>
                <a:cs typeface="Times New Roman" panose="02020603050405020304" pitchFamily="18" charset="0"/>
              </a:rPr>
              <a:t>Business Performance: Gained an overall view of sales, customers, products, and supplier performance to support better decision-making</a:t>
            </a:r>
            <a:r>
              <a:rPr lang="en-IN" dirty="0"/>
              <a:t>.</a:t>
            </a:r>
          </a:p>
          <a:p>
            <a:endParaRPr lang="en-IN" dirty="0"/>
          </a:p>
        </p:txBody>
      </p:sp>
    </p:spTree>
    <p:extLst>
      <p:ext uri="{BB962C8B-B14F-4D97-AF65-F5344CB8AC3E}">
        <p14:creationId xmlns:p14="http://schemas.microsoft.com/office/powerpoint/2010/main" val="1563229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5C327-66AD-29FD-EEF8-79761D09CE3D}"/>
              </a:ext>
            </a:extLst>
          </p:cNvPr>
          <p:cNvSpPr>
            <a:spLocks noGrp="1"/>
          </p:cNvSpPr>
          <p:nvPr>
            <p:ph type="title"/>
          </p:nvPr>
        </p:nvSpPr>
        <p:spPr/>
        <p:txBody>
          <a:bodyPr/>
          <a:lstStyle/>
          <a:p>
            <a:r>
              <a:rPr lang="en-US" b="1" dirty="0">
                <a:solidFill>
                  <a:srgbClr val="FF0000"/>
                </a:solidFill>
              </a:rPr>
              <a:t>RECOMMENDATIONS</a:t>
            </a:r>
            <a:endParaRPr lang="en-IN" b="1" dirty="0">
              <a:solidFill>
                <a:srgbClr val="FF0000"/>
              </a:solidFill>
            </a:endParaRPr>
          </a:p>
        </p:txBody>
      </p:sp>
      <p:sp>
        <p:nvSpPr>
          <p:cNvPr id="3" name="Text Placeholder 2">
            <a:extLst>
              <a:ext uri="{FF2B5EF4-FFF2-40B4-BE49-F238E27FC236}">
                <a16:creationId xmlns:a16="http://schemas.microsoft.com/office/drawing/2014/main" id="{E64465F8-984B-A47B-3619-05890E74130E}"/>
              </a:ext>
            </a:extLst>
          </p:cNvPr>
          <p:cNvSpPr>
            <a:spLocks noGrp="1"/>
          </p:cNvSpPr>
          <p:nvPr>
            <p:ph type="body" idx="1"/>
          </p:nvPr>
        </p:nvSpPr>
        <p:spPr>
          <a:xfrm>
            <a:off x="838200" y="1602341"/>
            <a:ext cx="10515600" cy="4351338"/>
          </a:xfrm>
        </p:spPr>
        <p:txBody>
          <a:bodyPr>
            <a:normAutofit fontScale="77500" lnSpcReduction="20000"/>
          </a:bodyPr>
          <a:lstStyle/>
          <a:p>
            <a:pPr lvl="0">
              <a:lnSpc>
                <a:spcPct val="120000"/>
              </a:lnSpc>
            </a:pPr>
            <a:r>
              <a:rPr lang="en-IN" dirty="0">
                <a:latin typeface="Times New Roman" panose="02020603050405020304" pitchFamily="18" charset="0"/>
                <a:cs typeface="Times New Roman" panose="02020603050405020304" pitchFamily="18" charset="0"/>
              </a:rPr>
              <a:t>Maintain sufficient stock of high-demand products to prevent stock-outs and lost sales. </a:t>
            </a:r>
          </a:p>
          <a:p>
            <a:pPr lvl="0">
              <a:lnSpc>
                <a:spcPct val="120000"/>
              </a:lnSpc>
            </a:pPr>
            <a:r>
              <a:rPr lang="en-IN" dirty="0">
                <a:latin typeface="Times New Roman" panose="02020603050405020304" pitchFamily="18" charset="0"/>
                <a:cs typeface="Times New Roman" panose="02020603050405020304" pitchFamily="18" charset="0"/>
              </a:rPr>
              <a:t>Identify and improve low-performing products through discounts, promotions, or better product placement. </a:t>
            </a:r>
          </a:p>
          <a:p>
            <a:pPr lvl="0">
              <a:lnSpc>
                <a:spcPct val="120000"/>
              </a:lnSpc>
            </a:pPr>
            <a:r>
              <a:rPr lang="en-IN" dirty="0">
                <a:latin typeface="Times New Roman" panose="02020603050405020304" pitchFamily="18" charset="0"/>
                <a:cs typeface="Times New Roman" panose="02020603050405020304" pitchFamily="18" charset="0"/>
              </a:rPr>
              <a:t>Focus on high-revenue product categories to maximize overall store revenue. </a:t>
            </a:r>
          </a:p>
          <a:p>
            <a:pPr lvl="0">
              <a:lnSpc>
                <a:spcPct val="120000"/>
              </a:lnSpc>
            </a:pPr>
            <a:r>
              <a:rPr lang="en-IN" dirty="0">
                <a:latin typeface="Times New Roman" panose="02020603050405020304" pitchFamily="18" charset="0"/>
                <a:cs typeface="Times New Roman" panose="02020603050405020304" pitchFamily="18" charset="0"/>
              </a:rPr>
              <a:t>Strengthen supplier management by working with reliable suppliers and monitoring supplier performance. </a:t>
            </a:r>
          </a:p>
          <a:p>
            <a:pPr lvl="0">
              <a:lnSpc>
                <a:spcPct val="120000"/>
              </a:lnSpc>
            </a:pPr>
            <a:r>
              <a:rPr lang="en-IN" dirty="0">
                <a:latin typeface="Times New Roman" panose="02020603050405020304" pitchFamily="18" charset="0"/>
                <a:cs typeface="Times New Roman" panose="02020603050405020304" pitchFamily="18" charset="0"/>
              </a:rPr>
              <a:t>Reward loyal customers with discounts, loyalty programs, and personalized offers. </a:t>
            </a:r>
          </a:p>
          <a:p>
            <a:pPr lvl="0">
              <a:lnSpc>
                <a:spcPct val="120000"/>
              </a:lnSpc>
            </a:pPr>
            <a:r>
              <a:rPr lang="en-IN" dirty="0">
                <a:latin typeface="Times New Roman" panose="02020603050405020304" pitchFamily="18" charset="0"/>
                <a:cs typeface="Times New Roman" panose="02020603050405020304" pitchFamily="18" charset="0"/>
              </a:rPr>
              <a:t>Use sales trends to plan inventory and make better purchasing decisions. </a:t>
            </a:r>
          </a:p>
          <a:p>
            <a:pPr lvl="0">
              <a:lnSpc>
                <a:spcPct val="120000"/>
              </a:lnSpc>
            </a:pPr>
            <a:r>
              <a:rPr lang="en-IN" dirty="0">
                <a:latin typeface="Times New Roman" panose="02020603050405020304" pitchFamily="18" charset="0"/>
                <a:cs typeface="Times New Roman" panose="02020603050405020304" pitchFamily="18" charset="0"/>
              </a:rPr>
              <a:t>Monitor revenue and order patterns regularly to support data-driven business decisions.</a:t>
            </a:r>
          </a:p>
          <a:p>
            <a:endParaRPr lang="en-IN" dirty="0"/>
          </a:p>
        </p:txBody>
      </p:sp>
    </p:spTree>
    <p:extLst>
      <p:ext uri="{BB962C8B-B14F-4D97-AF65-F5344CB8AC3E}">
        <p14:creationId xmlns:p14="http://schemas.microsoft.com/office/powerpoint/2010/main" val="3316808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EC710-79B4-3230-B330-18BAC8CBD1B3}"/>
              </a:ext>
            </a:extLst>
          </p:cNvPr>
          <p:cNvSpPr>
            <a:spLocks noGrp="1"/>
          </p:cNvSpPr>
          <p:nvPr>
            <p:ph type="title"/>
          </p:nvPr>
        </p:nvSpPr>
        <p:spPr/>
        <p:txBody>
          <a:bodyPr/>
          <a:lstStyle/>
          <a:p>
            <a:r>
              <a:rPr lang="en-US" b="1" dirty="0">
                <a:solidFill>
                  <a:srgbClr val="FF0000"/>
                </a:solidFill>
              </a:rPr>
              <a:t>CONCLUSION</a:t>
            </a:r>
            <a:endParaRPr lang="en-IN" b="1" dirty="0">
              <a:solidFill>
                <a:srgbClr val="FF0000"/>
              </a:solidFill>
            </a:endParaRPr>
          </a:p>
        </p:txBody>
      </p:sp>
      <p:sp>
        <p:nvSpPr>
          <p:cNvPr id="5" name="Text Placeholder 4">
            <a:extLst>
              <a:ext uri="{FF2B5EF4-FFF2-40B4-BE49-F238E27FC236}">
                <a16:creationId xmlns:a16="http://schemas.microsoft.com/office/drawing/2014/main" id="{3D1E3E2F-6B01-52C7-558B-02BDDB4161BC}"/>
              </a:ext>
            </a:extLst>
          </p:cNvPr>
          <p:cNvSpPr>
            <a:spLocks noGrp="1"/>
          </p:cNvSpPr>
          <p:nvPr>
            <p:ph type="body" idx="1"/>
          </p:nvPr>
        </p:nvSpPr>
        <p:spPr>
          <a:xfrm>
            <a:off x="838200" y="1506648"/>
            <a:ext cx="10515600" cy="4351338"/>
          </a:xfrm>
        </p:spPr>
        <p:txBody>
          <a:bodyPr>
            <a:normAutofit/>
          </a:bodyPr>
          <a:lstStyle/>
          <a:p>
            <a:pPr marL="114300" indent="0">
              <a:lnSpc>
                <a:spcPct val="150000"/>
              </a:lnSpc>
              <a:buNone/>
            </a:pPr>
            <a:r>
              <a:rPr lang="en-IN" sz="2000" dirty="0">
                <a:latin typeface="Times New Roman" panose="02020603050405020304" pitchFamily="18" charset="0"/>
                <a:cs typeface="Times New Roman" panose="02020603050405020304" pitchFamily="18" charset="0"/>
              </a:rPr>
              <a:t>The Grocery Store Management project successfully demonstrates how SQL can be used to efficiently manage and analyze grocery store data. By integrating information about suppliers, categories, products, employees, customers, and orders, the database provides a structured view of store operations. The analysis helped identify sales performance, revenue patterns, top-selling products, customer purchasing behavior, and other key business insights. Overall, the project shows how SQL-based data management and analysis can support better decision-making, improve operational efficiency, and help the store understand its business performance.</a:t>
            </a:r>
          </a:p>
        </p:txBody>
      </p:sp>
    </p:spTree>
    <p:extLst>
      <p:ext uri="{BB962C8B-B14F-4D97-AF65-F5344CB8AC3E}">
        <p14:creationId xmlns:p14="http://schemas.microsoft.com/office/powerpoint/2010/main" val="29176462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67A0-9581-2526-1901-DE6433347AFD}"/>
              </a:ext>
            </a:extLst>
          </p:cNvPr>
          <p:cNvSpPr>
            <a:spLocks noGrp="1"/>
          </p:cNvSpPr>
          <p:nvPr>
            <p:ph type="title"/>
          </p:nvPr>
        </p:nvSpPr>
        <p:spPr/>
        <p:txBody>
          <a:bodyPr/>
          <a:lstStyle/>
          <a:p>
            <a:r>
              <a:rPr lang="en-US" b="1" dirty="0">
                <a:solidFill>
                  <a:srgbClr val="FF0000"/>
                </a:solidFill>
              </a:rPr>
              <a:t>Q &amp; A</a:t>
            </a:r>
            <a:endParaRPr lang="en-IN" b="1" dirty="0">
              <a:solidFill>
                <a:srgbClr val="FF0000"/>
              </a:solidFill>
            </a:endParaRPr>
          </a:p>
        </p:txBody>
      </p:sp>
      <p:sp>
        <p:nvSpPr>
          <p:cNvPr id="3" name="Text Placeholder 2">
            <a:extLst>
              <a:ext uri="{FF2B5EF4-FFF2-40B4-BE49-F238E27FC236}">
                <a16:creationId xmlns:a16="http://schemas.microsoft.com/office/drawing/2014/main" id="{C5E771F3-3C56-6405-FB61-48F5328E7332}"/>
              </a:ext>
            </a:extLst>
          </p:cNvPr>
          <p:cNvSpPr>
            <a:spLocks noGrp="1"/>
          </p:cNvSpPr>
          <p:nvPr>
            <p:ph type="body" idx="1"/>
          </p:nvPr>
        </p:nvSpPr>
        <p:spPr/>
        <p:txBody>
          <a:bodyPr/>
          <a:lstStyle/>
          <a:p>
            <a:pPr marL="114300" indent="0">
              <a:buNone/>
            </a:pPr>
            <a:r>
              <a:rPr lang="en-IN" b="1" dirty="0">
                <a:latin typeface="Times New Roman" panose="02020603050405020304" pitchFamily="18" charset="0"/>
                <a:cs typeface="Times New Roman" panose="02020603050405020304" pitchFamily="18" charset="0"/>
              </a:rPr>
              <a:t>Thank you for your time and attention.</a:t>
            </a:r>
            <a:endParaRPr lang="en-IN" dirty="0">
              <a:latin typeface="Times New Roman" panose="02020603050405020304" pitchFamily="18" charset="0"/>
              <a:cs typeface="Times New Roman" panose="02020603050405020304" pitchFamily="18" charset="0"/>
            </a:endParaRPr>
          </a:p>
          <a:p>
            <a:pPr marL="114300" indent="0">
              <a:buNone/>
            </a:pPr>
            <a:r>
              <a:rPr lang="en-IN" dirty="0">
                <a:latin typeface="Times New Roman" panose="02020603050405020304" pitchFamily="18" charset="0"/>
                <a:cs typeface="Times New Roman" panose="02020603050405020304" pitchFamily="18" charset="0"/>
              </a:rPr>
              <a:t>I welcome your questions and feedback.</a:t>
            </a:r>
          </a:p>
          <a:p>
            <a:pPr marL="114300" indent="0">
              <a:buNone/>
            </a:pPr>
            <a:endParaRPr lang="en-IN" dirty="0"/>
          </a:p>
        </p:txBody>
      </p:sp>
    </p:spTree>
    <p:extLst>
      <p:ext uri="{BB962C8B-B14F-4D97-AF65-F5344CB8AC3E}">
        <p14:creationId xmlns:p14="http://schemas.microsoft.com/office/powerpoint/2010/main" val="22397429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2063649" y="2498466"/>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TotalTime>
  <Words>1706</Words>
  <Application>Microsoft Office PowerPoint</Application>
  <PresentationFormat>Widescreen</PresentationFormat>
  <Paragraphs>288</Paragraphs>
  <Slides>23</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Lato Black</vt:lpstr>
      <vt:lpstr>Libre Baskerville</vt:lpstr>
      <vt:lpstr>Times New Roman</vt:lpstr>
      <vt:lpstr>Calibri</vt:lpstr>
      <vt:lpstr>Arial Rounded MT Bold</vt:lpstr>
      <vt:lpstr>Arial</vt:lpstr>
      <vt:lpstr>Office Theme</vt:lpstr>
      <vt:lpstr>PowerPoint Presentation</vt:lpstr>
      <vt:lpstr>PowerPoint Presentation</vt:lpstr>
      <vt:lpstr>AGENDA   </vt:lpstr>
      <vt:lpstr>BUSINESS PROBLEM </vt:lpstr>
      <vt:lpstr>PROBLEM STATEMENT</vt:lpstr>
      <vt:lpstr>INTRODUCTION</vt:lpstr>
      <vt:lpstr>DATA DESCRIPTION</vt:lpstr>
      <vt:lpstr>PowerPoint Presentation</vt:lpstr>
      <vt:lpstr>E-R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INSIGHTS</vt:lpstr>
      <vt:lpstr>RECOMMENDATIONS</vt:lpstr>
      <vt:lpstr>CONCLUSION</vt:lpstr>
      <vt:lpstr>Q &amp; 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chetana reddy</cp:lastModifiedBy>
  <cp:revision>11</cp:revision>
  <dcterms:created xsi:type="dcterms:W3CDTF">2021-02-16T05:19:01Z</dcterms:created>
  <dcterms:modified xsi:type="dcterms:W3CDTF">2026-10-10T10:32:28Z</dcterms:modified>
</cp:coreProperties>
</file>